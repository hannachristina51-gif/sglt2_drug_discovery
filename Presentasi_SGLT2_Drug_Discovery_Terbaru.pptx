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31520"/>
            <a:ext cx="5120640" cy="411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DD4BF"/>
                </a:solidFill>
              </a:defRPr>
            </a:pPr>
            <a:r>
              <a:t>🧬 AI-DRIVEN DRUG DISCOVERY &amp; VIRTUAL SCREENING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SGLT2 Inhibitor Drug Discovery</a:t>
            </a:r>
          </a:p>
          <a:p>
            <a:pPr>
              <a:defRPr sz="1800">
                <a:solidFill>
                  <a:srgbClr val="BAE6FD"/>
                </a:solidFill>
                <a:latin typeface="Calibri"/>
              </a:defRPr>
            </a:pPr>
            <a:r>
              <a:t>Platform Prediksi Bioaktivitas In-Silico Berbasis Machine Learning &amp; Aplikasi Web Interaktif untuk Penemuan Kandidat Obat Diabetes Melitus Tipe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794760"/>
            <a:ext cx="251460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t>CHEMBL1808</a:t>
            </a:r>
          </a:p>
          <a:p>
            <a:pPr algn="ctr">
              <a:defRPr sz="1150" b="1">
                <a:solidFill>
                  <a:srgbClr val="94A3B8"/>
                </a:solidFill>
              </a:defRPr>
            </a:pPr>
            <a:r>
              <a:t>Target Biologis SGLT2</a:t>
            </a:r>
          </a:p>
          <a:p>
            <a:pPr algn="ctr">
              <a:defRPr sz="950">
                <a:solidFill>
                  <a:srgbClr val="CBD5E1"/>
                </a:solidFill>
              </a:defRPr>
            </a:pPr>
            <a:r>
              <a:t>1.760 Senyawa Terkurasi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3794760"/>
            <a:ext cx="251460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t>2.052 Fitur</a:t>
            </a:r>
          </a:p>
          <a:p>
            <a:pPr algn="ctr">
              <a:defRPr sz="1150" b="1">
                <a:solidFill>
                  <a:srgbClr val="94A3B8"/>
                </a:solidFill>
              </a:defRPr>
            </a:pPr>
            <a:r>
              <a:t>Hybrid Representation</a:t>
            </a:r>
          </a:p>
          <a:p>
            <a:pPr algn="ctr">
              <a:defRPr sz="950">
                <a:solidFill>
                  <a:srgbClr val="CBD5E1"/>
                </a:solidFill>
              </a:defRPr>
            </a:pPr>
            <a:r>
              <a:t>2048-bit ECFP4 + 4 Lipinski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94760"/>
            <a:ext cx="251460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t>R² = 0.7297</a:t>
            </a:r>
          </a:p>
          <a:p>
            <a:pPr algn="ctr">
              <a:defRPr sz="1150" b="1">
                <a:solidFill>
                  <a:srgbClr val="94A3B8"/>
                </a:solidFill>
              </a:defRPr>
            </a:pPr>
            <a:r>
              <a:t>Random Forest Regressor</a:t>
            </a:r>
          </a:p>
          <a:p>
            <a:pPr algn="ctr">
              <a:defRPr sz="950">
                <a:solidFill>
                  <a:srgbClr val="CBD5E1"/>
                </a:solidFill>
              </a:defRPr>
            </a:pPr>
            <a:r>
              <a:t>RMSE = 0.6317 | Scaffold Split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3794760"/>
            <a:ext cx="251460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t>Web &amp; Cloud</a:t>
            </a:r>
          </a:p>
          <a:p>
            <a:pPr algn="ctr">
              <a:defRPr sz="1150" b="1">
                <a:solidFill>
                  <a:srgbClr val="94A3B8"/>
                </a:solidFill>
              </a:defRPr>
            </a:pPr>
            <a:r>
              <a:t>Streamlit + PDF Export</a:t>
            </a:r>
          </a:p>
          <a:p>
            <a:pPr algn="ctr">
              <a:defRPr sz="950">
                <a:solidFill>
                  <a:srgbClr val="CBD5E1"/>
                </a:solidFill>
              </a:defRPr>
            </a:pPr>
            <a:r>
              <a:t>Streamlit Cloud &amp; HF Spaces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440680"/>
            <a:ext cx="10561320" cy="960120"/>
          </a:xfrm>
          <a:prstGeom prst="roundRect">
            <a:avLst/>
          </a:prstGeom>
          <a:solidFill>
            <a:srgbClr val="0F2342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👩‍🔬 Peneliti &amp; Pengembang: Hanna Christina Ginting (NPM: 2506713353) — Universitas Indonesia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👨‍🏫 Dosen Pengampu / Pembimbing: Prof. Arry   |   🌐 Web App: https://sglt2-drug-discovery.streamlit.app/   |   🐙 GitHub: hannachristina51-gif/SGLT2_Drug_Discovery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1. Latar Belakang &amp; Arsitektur End-to-End Aplikasi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Peran strategis inhibisi SGLT2 pada terapi Diabetes Melitus Tipe 2 dan alur kerja komputasi hulu ke hilir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92608"/>
            <a:ext cx="777240" cy="41148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SGLT2 Inhibitor Virtual Screening &amp; Drug Discovery Platform  |  Hanna Christina Ginting (2506713353) — Riset AI Prof. Arry (Universitas Indonesia)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394960" cy="28346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39496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481328"/>
            <a:ext cx="5065776" cy="2523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E3A8A"/>
                </a:solidFill>
                <a:latin typeface="Calibri"/>
              </a:defRPr>
            </a:pPr>
            <a:r>
              <a:t>🎯 Mengapa Target SGLT2 (SLC5A2)?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0F172A"/>
                </a:solidFill>
                <a:latin typeface="Calibri"/>
              </a:rPr>
              <a:t>• Mekanisme Fisiologis: </a:t>
            </a:r>
            <a:r>
              <a:rPr b="0" sz="1150">
                <a:solidFill>
                  <a:srgbClr val="475569"/>
                </a:solidFill>
                <a:latin typeface="Calibri"/>
              </a:rPr>
              <a:t>Protein kotransporter natrium-glukosa 2 (SGLT2) bertanggung jawab atas &gt;90% reabsorpsi glukosa dari filtrat glomerulus di tubulus proksimal ginjal.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0F172A"/>
                </a:solidFill>
                <a:latin typeface="Calibri"/>
              </a:rPr>
              <a:t>• Keunggulan Terapi: </a:t>
            </a:r>
            <a:r>
              <a:rPr b="0" sz="1150">
                <a:solidFill>
                  <a:srgbClr val="475569"/>
                </a:solidFill>
                <a:latin typeface="Calibri"/>
              </a:rPr>
              <a:t>Inhibisi SGLT2 memicu ekskresi glukosa urin (glukosuria) dan menurunkan hiperglikemia secara independen dari sekresi insulin (risiko hipoglikemia rendah).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0F172A"/>
                </a:solidFill>
                <a:latin typeface="Calibri"/>
              </a:rPr>
              <a:t>• Manfaat Kardiorenal: </a:t>
            </a:r>
            <a:r>
              <a:rPr b="0" sz="1150">
                <a:solidFill>
                  <a:srgbClr val="475569"/>
                </a:solidFill>
                <a:latin typeface="Calibri"/>
              </a:rPr>
              <a:t>Terbukti klinis memberikan efek kardioprotektif (gagal jantung) dan nefroprotektif pada pasien Diabetes Melitus Tipe 2.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0F172A"/>
                </a:solidFill>
                <a:latin typeface="Calibri"/>
              </a:rPr>
              <a:t>• Obat Referensi: </a:t>
            </a:r>
            <a:r>
              <a:rPr b="0" sz="1150">
                <a:solidFill>
                  <a:srgbClr val="475569"/>
                </a:solidFill>
                <a:latin typeface="Calibri"/>
              </a:rPr>
              <a:t>Gliflozin (Dapagliflozin, Empagliflozin, Canagliflozin) berbasis kerangka C-aryl glucoside.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280160"/>
            <a:ext cx="5650992" cy="28346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60" y="1280160"/>
            <a:ext cx="565099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5352" y="1481328"/>
            <a:ext cx="5321807" cy="2523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D9488"/>
                </a:solidFill>
                <a:latin typeface="Calibri"/>
              </a:defRPr>
            </a:pPr>
            <a:r>
              <a:t>💡 Solusi Aplikasi Virtual Screening Berbasis AI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0F172A"/>
                </a:solidFill>
                <a:latin typeface="Calibri"/>
              </a:rPr>
              <a:t>• Akselerasi Penemuan Obat: </a:t>
            </a:r>
            <a:r>
              <a:rPr b="0" sz="1150">
                <a:solidFill>
                  <a:srgbClr val="475569"/>
                </a:solidFill>
                <a:latin typeface="Calibri"/>
              </a:rPr>
              <a:t>Menyaring ribuan molekul kandidat secara in-silico sebelum uji laboratorium basah (in-vitro) yang mahal dan memakan waktu.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0F172A"/>
                </a:solidFill>
                <a:latin typeface="Calibri"/>
              </a:rPr>
              <a:t>• Prediksi Kuantitatif QSAR: </a:t>
            </a:r>
            <a:r>
              <a:rPr b="0" sz="1150">
                <a:solidFill>
                  <a:srgbClr val="475569"/>
                </a:solidFill>
                <a:latin typeface="Calibri"/>
              </a:rPr>
              <a:t>Memprediksi afinitas pengikatan langsung dalam skala pActivity (-log10 IC50) serta estimasi konsentrasi IC50 (nM).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0F172A"/>
                </a:solidFill>
                <a:latin typeface="Calibri"/>
              </a:rPr>
              <a:t>• Evaluasi Kepatuhan Obat Oral: </a:t>
            </a:r>
            <a:r>
              <a:rPr b="0" sz="1150">
                <a:solidFill>
                  <a:srgbClr val="475569"/>
                </a:solidFill>
                <a:latin typeface="Calibri"/>
              </a:rPr>
              <a:t>Mengintegrasikan pemeriksaan otomatis aturan fisikokimia Lipinski's Rule of Five.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0F172A"/>
                </a:solidFill>
                <a:latin typeface="Calibri"/>
              </a:rPr>
              <a:t>• Aksesibilitas Peneliti: </a:t>
            </a:r>
            <a:r>
              <a:rPr b="0" sz="1150">
                <a:solidFill>
                  <a:srgbClr val="475569"/>
                </a:solidFill>
                <a:latin typeface="Calibri"/>
              </a:rPr>
              <a:t>Dikemas dalam Web App Streamlit interaktif dengan fitur ekspor Laporan PDF Resmi A4, Cetak Langsung, dan Batch CSV.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2452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🔄 Alur Arsitektur End-to-End Pipeline (6 Tahap Terintegrasi)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572000"/>
            <a:ext cx="1783080" cy="17830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572000"/>
            <a:ext cx="178308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4681728"/>
            <a:ext cx="163677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Tahap 1</a:t>
            </a:r>
          </a:p>
          <a:p>
            <a:pPr algn="ctr">
              <a:spcAft>
                <a:spcPts val="600"/>
              </a:spcAft>
              <a:defRPr sz="1200" b="1">
                <a:solidFill>
                  <a:srgbClr val="0F172A"/>
                </a:solidFill>
              </a:defRPr>
            </a:pPr>
            <a:r>
              <a:t>Akuisisi Data ChEMBL</a:t>
            </a:r>
          </a:p>
          <a:p>
            <a:pPr algn="ctr">
              <a:defRPr sz="1000">
                <a:solidFill>
                  <a:srgbClr val="475569"/>
                </a:solidFill>
              </a:defRPr>
            </a:pPr>
            <a:r>
              <a:t>Target CHEMBL1808</a:t>
            </a:r>
            <a:br/>
            <a:r>
              <a:t>4.114 data mentah IC50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59152" y="4572000"/>
            <a:ext cx="1783080" cy="17830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59152" y="4572000"/>
            <a:ext cx="178308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32304" y="4681728"/>
            <a:ext cx="163677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Tahap 2</a:t>
            </a:r>
          </a:p>
          <a:p>
            <a:pPr algn="ctr">
              <a:spcAft>
                <a:spcPts val="600"/>
              </a:spcAft>
              <a:defRPr sz="1200" b="1">
                <a:solidFill>
                  <a:srgbClr val="0F172A"/>
                </a:solidFill>
              </a:defRPr>
            </a:pPr>
            <a:r>
              <a:t>Kurasi &amp; Pre-processing</a:t>
            </a:r>
          </a:p>
          <a:p>
            <a:pPr algn="ctr">
              <a:defRPr sz="1000">
                <a:solidFill>
                  <a:srgbClr val="475569"/>
                </a:solidFill>
              </a:defRPr>
            </a:pPr>
            <a:r>
              <a:t>Sanitasi SMILES, deduplikasi</a:t>
            </a:r>
            <a:br/>
            <a:r>
              <a:t>1.760 senyawa bersih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61104" y="4572000"/>
            <a:ext cx="1783080" cy="17830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61104" y="4572000"/>
            <a:ext cx="178308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34256" y="4681728"/>
            <a:ext cx="163677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Tahap 3</a:t>
            </a:r>
          </a:p>
          <a:p>
            <a:pPr algn="ctr">
              <a:spcAft>
                <a:spcPts val="600"/>
              </a:spcAft>
              <a:defRPr sz="1200" b="1">
                <a:solidFill>
                  <a:srgbClr val="0F172A"/>
                </a:solidFill>
              </a:defRPr>
            </a:pPr>
            <a:r>
              <a:t>Feature Engineering</a:t>
            </a:r>
          </a:p>
          <a:p>
            <a:pPr algn="ctr">
              <a:defRPr sz="1000">
                <a:solidFill>
                  <a:srgbClr val="475569"/>
                </a:solidFill>
              </a:defRPr>
            </a:pPr>
            <a:r>
              <a:t>2048-bit Morgan FP +</a:t>
            </a:r>
            <a:br/>
            <a:r>
              <a:t>4 Lipinski Descriptors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3056" y="4572000"/>
            <a:ext cx="1783080" cy="17830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63056" y="4572000"/>
            <a:ext cx="178308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6208" y="4681728"/>
            <a:ext cx="163677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6A34A"/>
                </a:solidFill>
              </a:defRPr>
            </a:pPr>
            <a:r>
              <a:t>Tahap 4</a:t>
            </a:r>
          </a:p>
          <a:p>
            <a:pPr algn="ctr">
              <a:spcAft>
                <a:spcPts val="600"/>
              </a:spcAft>
              <a:defRPr sz="1200" b="1">
                <a:solidFill>
                  <a:srgbClr val="0F172A"/>
                </a:solidFill>
              </a:defRPr>
            </a:pPr>
            <a:r>
              <a:t>Pemodelan &amp; Validasi</a:t>
            </a:r>
          </a:p>
          <a:p>
            <a:pPr algn="ctr">
              <a:defRPr sz="1000">
                <a:solidFill>
                  <a:srgbClr val="475569"/>
                </a:solidFill>
              </a:defRPr>
            </a:pPr>
            <a:r>
              <a:t>Random Forest + GridSearchCV</a:t>
            </a:r>
            <a:br/>
            <a:r>
              <a:t>Bemis-Murcko Scaffold Split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65008" y="4572000"/>
            <a:ext cx="1783080" cy="17830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65008" y="4572000"/>
            <a:ext cx="17830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4681728"/>
            <a:ext cx="163677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97706"/>
                </a:solidFill>
              </a:defRPr>
            </a:pPr>
            <a:r>
              <a:t>Tahap 5</a:t>
            </a:r>
          </a:p>
          <a:p>
            <a:pPr algn="ctr">
              <a:spcAft>
                <a:spcPts val="600"/>
              </a:spcAft>
              <a:defRPr sz="1200" b="1">
                <a:solidFill>
                  <a:srgbClr val="0F172A"/>
                </a:solidFill>
              </a:defRPr>
            </a:pPr>
            <a:r>
              <a:t>Aplikasi Web Streamlit</a:t>
            </a:r>
          </a:p>
          <a:p>
            <a:pPr algn="ctr">
              <a:defRPr sz="1000">
                <a:solidFill>
                  <a:srgbClr val="475569"/>
                </a:solidFill>
              </a:defRPr>
            </a:pPr>
            <a:r>
              <a:t>Single &amp; Batch Screening</a:t>
            </a:r>
            <a:br/>
            <a:r>
              <a:t>Struktur 2D &amp; Rule of 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66960" y="4572000"/>
            <a:ext cx="1783080" cy="17830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966960" y="4572000"/>
            <a:ext cx="178308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40112" y="4681728"/>
            <a:ext cx="163677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7C3AED"/>
                </a:solidFill>
              </a:defRPr>
            </a:pPr>
            <a:r>
              <a:t>Tahap 6</a:t>
            </a:r>
          </a:p>
          <a:p>
            <a:pPr algn="ctr">
              <a:spcAft>
                <a:spcPts val="600"/>
              </a:spcAft>
              <a:defRPr sz="1200" b="1">
                <a:solidFill>
                  <a:srgbClr val="0F172A"/>
                </a:solidFill>
              </a:defRPr>
            </a:pPr>
            <a:r>
              <a:t>Pelaporan &amp; Cloud</a:t>
            </a:r>
          </a:p>
          <a:p>
            <a:pPr algn="ctr">
              <a:defRPr sz="1000">
                <a:solidFill>
                  <a:srgbClr val="475569"/>
                </a:solidFill>
              </a:defRPr>
            </a:pPr>
            <a:r>
              <a:t>Generator PDF A4 &amp; Print</a:t>
            </a:r>
            <a:br/>
            <a:r>
              <a:t>Streamlit Cloud &amp; HF Spaces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2. Akuisisi Data ChEMBL, Kurasi &amp; Exploratory Data Analysis (EDA)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Penyaringan ketat bioaktivitas CHEMBL1808 dan pemetaan ruang kimia (Chemical Space) senyawa inhibitor SGLT2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92608"/>
            <a:ext cx="777240" cy="41148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SGLT2 Inhibitor Virtual Screening &amp; Drug Discovery Platform  |  Hanna Christina Ginting (2506713353) — Riset AI Prof. Arry (Universitas Indonesia)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2651760" cy="1143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265176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362456"/>
            <a:ext cx="243230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3A8A"/>
                </a:solidFill>
                <a:latin typeface="Calibri"/>
              </a:defRPr>
            </a:pPr>
            <a:r>
              <a:t>4.114</a:t>
            </a:r>
          </a:p>
          <a:p>
            <a:pPr algn="ctr">
              <a:defRPr sz="1150" b="1">
                <a:solidFill>
                  <a:srgbClr val="0F172A"/>
                </a:solidFill>
                <a:latin typeface="Calibri"/>
              </a:defRPr>
            </a:pPr>
            <a:r>
              <a:t>Data Mentah ChEMBL</a:t>
            </a:r>
          </a:p>
          <a:p>
            <a:pPr algn="ctr">
              <a:defRPr sz="950">
                <a:solidFill>
                  <a:srgbClr val="475569"/>
                </a:solidFill>
                <a:latin typeface="Calibri"/>
              </a:defRPr>
            </a:pPr>
            <a:r>
              <a:t>Target ID: CHEMBL1808 (IC50)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234440"/>
            <a:ext cx="2651760" cy="1143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234440"/>
            <a:ext cx="265176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1568" y="1362456"/>
            <a:ext cx="243230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D9488"/>
                </a:solidFill>
                <a:latin typeface="Calibri"/>
              </a:defRPr>
            </a:pPr>
            <a:r>
              <a:t>1.760</a:t>
            </a:r>
          </a:p>
          <a:p>
            <a:pPr algn="ctr">
              <a:defRPr sz="1150" b="1">
                <a:solidFill>
                  <a:srgbClr val="0F172A"/>
                </a:solidFill>
                <a:latin typeface="Calibri"/>
              </a:defRPr>
            </a:pPr>
            <a:r>
              <a:t>Senyawa Terkurasi Bersih</a:t>
            </a:r>
          </a:p>
          <a:p>
            <a:pPr algn="ctr">
              <a:defRPr sz="950">
                <a:solidFill>
                  <a:srgbClr val="475569"/>
                </a:solidFill>
                <a:latin typeface="Calibri"/>
              </a:defRPr>
            </a:pPr>
            <a:r>
              <a:t>Bebas duplikat &amp; SMILES valid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234440"/>
            <a:ext cx="5605272" cy="1143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234440"/>
            <a:ext cx="5605272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1408176"/>
            <a:ext cx="5276088" cy="8321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  <a:latin typeface="Calibri"/>
              </a:defRPr>
            </a:pPr>
            <a:r>
              <a:t>📏 Standar Klasifikasi Bioaktivitas — pActivity = -log10(IC50 Molar)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🟢 Aktif (Poten): </a:t>
            </a:r>
            <a:r>
              <a:rPr b="0" sz="1050">
                <a:solidFill>
                  <a:srgbClr val="475569"/>
                </a:solidFill>
                <a:latin typeface="Calibri"/>
              </a:rPr>
              <a:t>pActivity &gt; 6.0  (setara IC50 &lt; 1.000 nM)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🟡 Intermediate (Menengah): </a:t>
            </a:r>
            <a:r>
              <a:rPr b="0" sz="1050">
                <a:solidFill>
                  <a:srgbClr val="475569"/>
                </a:solidFill>
                <a:latin typeface="Calibri"/>
              </a:rPr>
              <a:t>5.0 &lt; pActivity ≤ 6.0  (IC50: 1.000 – 10.000 nM)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🔴 Tidak Aktif: </a:t>
            </a:r>
            <a:r>
              <a:rPr b="0" sz="1050">
                <a:solidFill>
                  <a:srgbClr val="475569"/>
                </a:solidFill>
                <a:latin typeface="Calibri"/>
              </a:rPr>
              <a:t>pActivity ≤ 5.0  (setara IC50 &gt; 10.000 nM)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542032"/>
            <a:ext cx="3611880" cy="3840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542032"/>
            <a:ext cx="361188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263347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1E3A8A"/>
                </a:solidFill>
              </a:defRPr>
            </a:pPr>
            <a:r>
              <a:t>Distribusi Kelas Bioaktivitas</a:t>
            </a:r>
          </a:p>
          <a:p>
            <a:pPr algn="ctr">
              <a:defRPr sz="950">
                <a:solidFill>
                  <a:srgbClr val="475569"/>
                </a:solidFill>
              </a:defRPr>
            </a:pPr>
            <a:r>
              <a:t>Proporsi senyawa Aktif, Intermediate, dan Tidak Aktif</a:t>
            </a:r>
          </a:p>
        </p:txBody>
      </p:sp>
      <p:pic>
        <p:nvPicPr>
          <p:cNvPr id="19" name="Picture 18" descr="01_bioactivit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182112"/>
            <a:ext cx="3273552" cy="2550559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4297680" y="2542032"/>
            <a:ext cx="3611880" cy="3840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2542032"/>
            <a:ext cx="361188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07408" y="263347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1E3A8A"/>
                </a:solidFill>
              </a:defRPr>
            </a:pPr>
            <a:r>
              <a:t>Ruang Kimia (MW vs LogP)</a:t>
            </a:r>
          </a:p>
          <a:p>
            <a:pPr algn="ctr">
              <a:defRPr sz="950">
                <a:solidFill>
                  <a:srgbClr val="475569"/>
                </a:solidFill>
              </a:defRPr>
            </a:pPr>
            <a:r>
              <a:t>Kepatuhan terhadap Lipinski's Rule of Five</a:t>
            </a:r>
          </a:p>
        </p:txBody>
      </p:sp>
      <p:pic>
        <p:nvPicPr>
          <p:cNvPr id="23" name="Picture 22" descr="02_chemical_space_mw_log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3182112"/>
            <a:ext cx="3273552" cy="2197971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8138160" y="2542032"/>
            <a:ext cx="3611880" cy="3840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2542032"/>
            <a:ext cx="361188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7888" y="263347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1E3A8A"/>
                </a:solidFill>
              </a:defRPr>
            </a:pPr>
            <a:r>
              <a:t>Distribusi pActivity (pIC50)</a:t>
            </a:r>
          </a:p>
          <a:p>
            <a:pPr algn="ctr">
              <a:defRPr sz="950">
                <a:solidFill>
                  <a:srgbClr val="475569"/>
                </a:solidFill>
              </a:defRPr>
            </a:pPr>
            <a:r>
              <a:t>Sebaran statistik nilai pActivity antarkelas</a:t>
            </a:r>
          </a:p>
        </p:txBody>
      </p:sp>
      <p:pic>
        <p:nvPicPr>
          <p:cNvPr id="27" name="Picture 26" descr="03_pActivity_boxp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3182112"/>
            <a:ext cx="3273552" cy="26493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3. Rekayasa Fitur Molekuler (Hybrid Feature Engineering)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Penggabungan representasi sub-struktur topologi Morgan Fingerprints (ECFP4) dan deskriptor fisikokimia Lipinski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92608"/>
            <a:ext cx="777240" cy="41148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SGLT2 Inhibitor Virtual Screening &amp; Drug Discovery Platform  |  Hanna Christina Ginting (2506713353) — Riset AI Prof. Arry (Universitas Indonesia)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486400" cy="374903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48640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481328"/>
            <a:ext cx="5157216" cy="3346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E3A8A"/>
                </a:solidFill>
                <a:latin typeface="Calibri"/>
              </a:defRPr>
            </a:pPr>
            <a:r>
              <a:t>🧬 1. Morgan Fingerprints (ECFP4 — Extended Connectivity)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0F172A"/>
                </a:solidFill>
                <a:latin typeface="Calibri"/>
              </a:rPr>
              <a:t>• Algoritma RDKit: </a:t>
            </a:r>
            <a:r>
              <a:rPr b="0" sz="1150">
                <a:solidFill>
                  <a:srgbClr val="475569"/>
                </a:solidFill>
                <a:latin typeface="Calibri"/>
              </a:rPr>
              <a:t>AllChem.GetMorganFingerprintAsBitVect(mol, radius=2, nBits=2048).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0F172A"/>
                </a:solidFill>
                <a:latin typeface="Calibri"/>
              </a:rPr>
              <a:t>• Lingkungan Atomik Sirkular: </a:t>
            </a:r>
            <a:r>
              <a:rPr b="0" sz="1150">
                <a:solidFill>
                  <a:srgbClr val="475569"/>
                </a:solidFill>
                <a:latin typeface="Calibri"/>
              </a:rPr>
              <a:t>Mengkodekan keberadaan gugus fungsi dan fragmen sub-struktur kimia dalam radius 2 ikatan kovalen di sekitar setiap atom.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0F172A"/>
                </a:solidFill>
                <a:latin typeface="Calibri"/>
              </a:rPr>
              <a:t>• Evolusi Dimensi Fitur: </a:t>
            </a:r>
            <a:r>
              <a:rPr b="0" sz="1150">
                <a:solidFill>
                  <a:srgbClr val="475569"/>
                </a:solidFill>
                <a:latin typeface="Calibri"/>
              </a:rPr>
              <a:t>Eksplorasi awal menggunakan vektor 1.024-bit (disimpan pada curated_features_and_fingerprints.csv dengan 1.035 kolom), kemudian ditingkatkan menjadi 2.048-bit pada model produksi untuk meminimalkan bit collision.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0F172A"/>
                </a:solidFill>
                <a:latin typeface="Calibri"/>
              </a:rPr>
              <a:t>• Karakteristik Matriks: </a:t>
            </a:r>
            <a:r>
              <a:rPr b="0" sz="1150">
                <a:solidFill>
                  <a:srgbClr val="475569"/>
                </a:solidFill>
                <a:latin typeface="Calibri"/>
              </a:rPr>
              <a:t>Vektor biner (0/1) berdimensi tinggi dan bersifat renggang (sparse binary matrix).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486400" cy="374903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4864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481328"/>
            <a:ext cx="5157216" cy="3346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D9488"/>
                </a:solidFill>
                <a:latin typeface="Calibri"/>
              </a:defRPr>
            </a:pPr>
            <a:r>
              <a:t>⚖️ 2. Deskriptor Fisikokimia Lipinski (Rule of Five)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0F172A"/>
                </a:solidFill>
                <a:latin typeface="Calibri"/>
              </a:rPr>
              <a:t>• Molecular Weight (MW): </a:t>
            </a:r>
            <a:r>
              <a:rPr b="0" sz="1150">
                <a:solidFill>
                  <a:srgbClr val="475569"/>
                </a:solidFill>
                <a:latin typeface="Calibri"/>
              </a:rPr>
              <a:t>Berat molekul senyawa (batas ideal obat oral ≤ 500 Dalton).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0F172A"/>
                </a:solidFill>
                <a:latin typeface="Calibri"/>
              </a:rPr>
              <a:t>• LogP (Koefisien Partisi Oktanol-Air): </a:t>
            </a:r>
            <a:r>
              <a:rPr b="0" sz="1150">
                <a:solidFill>
                  <a:srgbClr val="475569"/>
                </a:solidFill>
                <a:latin typeface="Calibri"/>
              </a:rPr>
              <a:t>Indikator lipofilisitas &amp; kemampuan menembus membran sel (ideal ≤ 5).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0F172A"/>
                </a:solidFill>
                <a:latin typeface="Calibri"/>
              </a:rPr>
              <a:t>• NumHDonors (HBD): </a:t>
            </a:r>
            <a:r>
              <a:rPr b="0" sz="1150">
                <a:solidFill>
                  <a:srgbClr val="475569"/>
                </a:solidFill>
                <a:latin typeface="Calibri"/>
              </a:rPr>
              <a:t>Jumlah donor ikatan hidrogen seperti gugus -OH dan -NH (ideal ≤ 5).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0F172A"/>
                </a:solidFill>
                <a:latin typeface="Calibri"/>
              </a:rPr>
              <a:t>• NumHAcceptors (HBA): </a:t>
            </a:r>
            <a:r>
              <a:rPr b="0" sz="1150">
                <a:solidFill>
                  <a:srgbClr val="475569"/>
                </a:solidFill>
                <a:latin typeface="Calibri"/>
              </a:rPr>
              <a:t>Jumlah akseptor ikatan hidrogen seperti atom O dan N (ideal ≤ 10).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0F172A"/>
                </a:solidFill>
                <a:latin typeface="Calibri"/>
              </a:rPr>
              <a:t>• Standardisasi Numerik: </a:t>
            </a:r>
            <a:r>
              <a:rPr b="0" sz="1150">
                <a:solidFill>
                  <a:srgbClr val="475569"/>
                </a:solidFill>
                <a:latin typeface="Calibri"/>
              </a:rPr>
              <a:t>Keempat fitur kontinu dinormalisasi menggunakan StandardScaler (mean=0, std=1) yang disimpan pada models/scaler.pkl agar seimbang saat digabung dengan fingerprint.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212080"/>
            <a:ext cx="11247120" cy="114300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321808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🔗 Vektor Masukan Model Produksi:  X = np.hstack([ Morgan_FP (2.048 bit)  +  StandardScaler(MW, LogP, HBD, HBA) (4 fitur) ])  ➔  Total 2.052 Fitur / Molekul</a:t>
            </a:r>
          </a:p>
          <a:p>
            <a:pPr algn="ctr">
              <a:defRPr sz="1150">
                <a:solidFill>
                  <a:srgbClr val="94A3B8"/>
                </a:solidFill>
              </a:defRPr>
            </a:pPr>
            <a:r>
              <a:t>Sinergi fitur mikro-struktural (fragmen pengikatan reseptor SGLT2) dan sifat makro-fisikokimia (kelarutan, ukuran, dan permeabilitas obat).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4. Pemodelan Machine Learning, Validasi Scaffold Split &amp; Komparasi Algoritma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Strategi pencegahan overfitting berbasis kerangka molekul dan evaluasi komparatif ensambel pohon keputusan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92608"/>
            <a:ext cx="777240" cy="41148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SGLT2 Inhibitor Virtual Screening &amp; Drug Discovery Platform  |  Hanna Christina Ginting (2506713353) — Riset AI Prof. Arry (Universitas Indonesia)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120640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12064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481328"/>
            <a:ext cx="4791455" cy="46268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50" b="1">
                <a:solidFill>
                  <a:srgbClr val="1E3A8A"/>
                </a:solidFill>
                <a:latin typeface="Calibri"/>
              </a:defRPr>
            </a:pPr>
            <a:r>
              <a:t>🛡️ Validasi Ilmiah &amp; Strategi Pelatihan</a:t>
            </a:r>
          </a:p>
          <a:p>
            <a:pPr>
              <a:spcAft>
                <a:spcPts val="400"/>
              </a:spcAft>
            </a:pPr>
            <a:r>
              <a:rPr b="1" sz="1120">
                <a:solidFill>
                  <a:srgbClr val="0F172A"/>
                </a:solidFill>
                <a:latin typeface="Calibri"/>
              </a:rPr>
              <a:t>• Bemis-Murcko Scaffold Split (70% Train : 30% Test): </a:t>
            </a:r>
            <a:r>
              <a:rPr b="0" sz="1120">
                <a:solidFill>
                  <a:srgbClr val="475569"/>
                </a:solidFill>
                <a:latin typeface="Calibri"/>
              </a:rPr>
              <a:t>Menggunakan rdkit.Chem.Scaffolds.MurckoScaffold untuk mengelompokkan kerangka cincin inti molekul. Memastikan molekul di Test Set memiliki kerangka baru yang belum pernah dilihat saat training (mencegah data leakage).</a:t>
            </a:r>
          </a:p>
          <a:p>
            <a:pPr>
              <a:spcAft>
                <a:spcPts val="400"/>
              </a:spcAft>
            </a:pPr>
            <a:r>
              <a:rPr b="1" sz="1120">
                <a:solidFill>
                  <a:srgbClr val="0F172A"/>
                </a:solidFill>
                <a:latin typeface="Calibri"/>
              </a:rPr>
              <a:t>• Isolasi Eksklusif Dapagliflozin: </a:t>
            </a:r>
            <a:r>
              <a:rPr b="0" sz="1120">
                <a:solidFill>
                  <a:srgbClr val="475569"/>
                </a:solidFill>
                <a:latin typeface="Calibri"/>
              </a:rPr>
              <a:t>Senyawa kontrol positif Dapagliflozin dipisahkan dari data latih dan ditempatkan 100% di Test Set sebagai blind validation.</a:t>
            </a:r>
          </a:p>
          <a:p>
            <a:pPr>
              <a:spcAft>
                <a:spcPts val="400"/>
              </a:spcAft>
            </a:pPr>
            <a:r>
              <a:rPr b="1" sz="1120">
                <a:solidFill>
                  <a:srgbClr val="0F172A"/>
                </a:solidFill>
                <a:latin typeface="Calibri"/>
              </a:rPr>
              <a:t>• Hyperparameter Tuning (GridSearchCV): </a:t>
            </a:r>
            <a:r>
              <a:rPr b="0" sz="1120">
                <a:solidFill>
                  <a:srgbClr val="475569"/>
                </a:solidFill>
                <a:latin typeface="Calibri"/>
              </a:rPr>
              <a:t>Eksplorasi 81 kombinasi parameter dengan Cross-Validation. Parameter optimal: n_estimators=300, max_depth=None, min_samples_split=2.</a:t>
            </a:r>
          </a:p>
          <a:p>
            <a:pPr>
              <a:spcAft>
                <a:spcPts val="400"/>
              </a:spcAft>
            </a:pPr>
            <a:r>
              <a:rPr b="1" sz="1120">
                <a:solidFill>
                  <a:srgbClr val="0F172A"/>
                </a:solidFill>
                <a:latin typeface="Calibri"/>
              </a:rPr>
              <a:t>• Mengapa Random Forest Unggul?: </a:t>
            </a:r>
            <a:r>
              <a:rPr b="0" sz="1120">
                <a:solidFill>
                  <a:srgbClr val="475569"/>
                </a:solidFill>
                <a:latin typeface="Calibri"/>
              </a:rPr>
              <a:t>Algoritma ensambel paralel (bagging) terbukti jauh lebih stabil menghadapi matriks biner renggang (sparse 2.048-bit) tanpa mengalami over-spesialisasi dibanding Gradient Boosting.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1280160"/>
            <a:ext cx="2834640" cy="1325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06440" y="1280160"/>
            <a:ext cx="283464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16168" y="1408176"/>
            <a:ext cx="261518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6A34A"/>
                </a:solidFill>
                <a:latin typeface="Calibri"/>
              </a:defRPr>
            </a:pPr>
            <a:r>
              <a:t>R² = 0.7297</a:t>
            </a:r>
          </a:p>
          <a:p>
            <a:pPr algn="ctr">
              <a:defRPr sz="1150" b="1">
                <a:solidFill>
                  <a:srgbClr val="0F172A"/>
                </a:solidFill>
                <a:latin typeface="Calibri"/>
              </a:defRPr>
            </a:pPr>
            <a:r>
              <a:t>Koefisien Determinasi</a:t>
            </a:r>
          </a:p>
          <a:p>
            <a:pPr algn="ctr">
              <a:defRPr sz="950">
                <a:solidFill>
                  <a:srgbClr val="475569"/>
                </a:solidFill>
                <a:latin typeface="Calibri"/>
              </a:defRPr>
            </a:pPr>
            <a:r>
              <a:t>Menjelaskan ~73% varians bioaktivitas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1280160"/>
            <a:ext cx="2834640" cy="1325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69680" y="1280160"/>
            <a:ext cx="283464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79407" y="1408176"/>
            <a:ext cx="261518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284C7"/>
                </a:solidFill>
                <a:latin typeface="Calibri"/>
              </a:defRPr>
            </a:pPr>
            <a:r>
              <a:t>RMSE = 0.6317</a:t>
            </a:r>
          </a:p>
          <a:p>
            <a:pPr algn="ctr">
              <a:defRPr sz="1150" b="1">
                <a:solidFill>
                  <a:srgbClr val="0F172A"/>
                </a:solidFill>
                <a:latin typeface="Calibri"/>
              </a:defRPr>
            </a:pPr>
            <a:r>
              <a:t>Root Mean Square Error</a:t>
            </a:r>
          </a:p>
          <a:p>
            <a:pPr algn="ctr">
              <a:defRPr sz="950">
                <a:solidFill>
                  <a:srgbClr val="475569"/>
                </a:solidFill>
                <a:latin typeface="Calibri"/>
              </a:defRPr>
            </a:pPr>
            <a:r>
              <a:t>Galat prediksi rendah (skala log pIC50)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2788920"/>
            <a:ext cx="5897880" cy="3566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06440" y="2788920"/>
            <a:ext cx="589788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20" y="2907792"/>
            <a:ext cx="5577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0F172A"/>
                </a:solidFill>
              </a:defRPr>
            </a:pPr>
            <a:r>
              <a:t>📊 Tabel Perbandingan Eksperimen Pemodelan (LogBook Riset)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961888" y="3310128"/>
          <a:ext cx="55778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1325880"/>
                <a:gridCol w="868680"/>
                <a:gridCol w="1325880"/>
              </a:tblGrid>
              <a:tr h="566928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Konfigurasi Model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Metode Tuning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Skor R²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Catatan Evaluasi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Random Forest Regressor (Model Utama)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Baseline Optimal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0.7297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RMSE 0.6317 (Terbaik ✅)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RF + Hybrid 2052 Fitur (RandomSearch)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RandomizedSearchCV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0.7255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10 iterasi CV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RF + Hybrid 2052 Fitur (GridSearch)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GridSearchCV (81 fit)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0.7233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n_estimators = 300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HistGradientBoosting Regressor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GridSearchCV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0.7044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lr=0.2, max_depth=9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5. Hasil Virtual Screening &amp; Validasi Senyawa Kontrol Dunia Nyata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Pengujian kemampuan model mengenali inhibitor SGLT2 komersial (Gliflozin) dibandingkan senyawa kelas terapi lain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92608"/>
            <a:ext cx="777240" cy="41148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SGLT2 Inhibitor Virtual Screening &amp; Drug Discovery Platform  |  Hanna Christina Ginting (2506713353) — Riset AI Prof. Arry (Universitas Indonesia)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6629400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662940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89888"/>
            <a:ext cx="6309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💊 Hasil Penapisan Virtual (data/04_virtual_screening_results.csv)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Dapagliflozin berhasil diidentifikasi sebagai kandidat paling poten dengan skor pActivity tertinggi (7.84 / IC50 ≈ 14.3 nM).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" y="2084831"/>
          <a:ext cx="630936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148840"/>
                <a:gridCol w="1143000"/>
                <a:gridCol w="1188720"/>
                <a:gridCol w="1280160"/>
              </a:tblGrid>
              <a:tr h="49530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Rank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Nama Senyawa Uji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Prediksi pActivity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Estimasi IC50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 Klasifikasi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#1 🏆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Dapagliflozin (Inhibitor SGLT2)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7.84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14.33 nM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Potensial Aktif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#2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Caffeine (Stimulan SSP)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6.84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144.33 nM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Potensial Aktif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#3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Aspirin (Analgesik / Kontrol)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6.67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215.55 nM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Potensial Aktif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#4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Metformin (Antidiabetik Biguanid)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6.42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378.52 nM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Potensial Aktif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#5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Ibuprofen (NSAID)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6.27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533.66 nM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Potensial Aktif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5193792"/>
            <a:ext cx="6309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E3A8A"/>
                </a:solidFill>
              </a:defRPr>
            </a:pPr>
            <a:r>
              <a:t>💡 Catatan Validasi Ilmiah &amp; Urgensi Applicability Domain: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Skor Dapagliflozin (7.84) unggul &gt;1.0 unit logaritmik (10x lebih kuat dalam skala nM) dibanding molekul lain. Prediksi moderat pada molekul kecil non-SGLT2 (seperti Aspirin/Caffeine) menegaskan pentingnya penambahan filter Applicability Domain (AD) pada Fase 1 Roadmap.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9480" y="1280160"/>
            <a:ext cx="4462272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69480" y="1280160"/>
            <a:ext cx="446227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1389888"/>
            <a:ext cx="4206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🔬 Struktur 2D Inhibitor SGLT2 (Dirender via RDKit)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1874519"/>
            <a:ext cx="3154680" cy="172756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406640" y="3611879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Dapagliflozin (pIC50 = 7.84)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4069079"/>
            <a:ext cx="3154680" cy="172756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406640" y="5806440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Empagliflozin (Preset Acuan)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6. Arsitektur Aplikasi Web Interaktif (Streamlit — app.py)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Antarmuka pengguna modern yang membungkus model Machine Learning ke dalam 3 modul fungsional terpadu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92608"/>
            <a:ext cx="777240" cy="41148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7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SGLT2 Inhibitor Virtual Screening &amp; Drug Discovery Platform  |  Hanna Christina Ginting (2506713353) — Riset AI Prof. Arry (Universitas Indonesia)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2834640" cy="507492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283464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444752"/>
            <a:ext cx="250545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DD4BF"/>
                </a:solidFill>
              </a:defRPr>
            </a:pPr>
            <a:r>
              <a:t>🧭 Sidebar Panel Informasi</a:t>
            </a:r>
          </a:p>
          <a:p>
            <a:pPr>
              <a:spcAft>
                <a:spcPts val="500"/>
              </a:spcAft>
              <a:defRPr sz="1050">
                <a:solidFill>
                  <a:srgbClr val="FFFFFF"/>
                </a:solidFill>
              </a:defRPr>
            </a:pPr>
            <a:r>
              <a:t>• Target Biologis: SGLT2 (SLC5A2)</a:t>
            </a:r>
          </a:p>
          <a:p>
            <a:pPr>
              <a:spcAft>
                <a:spcPts val="500"/>
              </a:spcAft>
              <a:defRPr sz="1050">
                <a:solidFill>
                  <a:srgbClr val="FFFFFF"/>
                </a:solidFill>
              </a:defRPr>
            </a:pPr>
            <a:r>
              <a:t>• Dataset: ChEMBL (CHEMBL1808)</a:t>
            </a:r>
          </a:p>
          <a:p>
            <a:pPr>
              <a:spcAft>
                <a:spcPts val="500"/>
              </a:spcAft>
              <a:defRPr sz="1050">
                <a:solidFill>
                  <a:srgbClr val="FFFFFF"/>
                </a:solidFill>
              </a:defRPr>
            </a:pPr>
            <a:r>
              <a:t>• Data Terkurasi: 1.760 senyawa</a:t>
            </a:r>
          </a:p>
          <a:p>
            <a:pPr>
              <a:spcAft>
                <a:spcPts val="500"/>
              </a:spcAft>
              <a:defRPr sz="1050">
                <a:solidFill>
                  <a:srgbClr val="FFFFFF"/>
                </a:solidFill>
              </a:defRPr>
            </a:pPr>
            <a:r>
              <a:t>• Algoritma: Random Forest Regressor</a:t>
            </a:r>
          </a:p>
          <a:p>
            <a:pPr>
              <a:spcAft>
                <a:spcPts val="500"/>
              </a:spcAft>
              <a:defRPr sz="1050">
                <a:solidFill>
                  <a:srgbClr val="FFFFFF"/>
                </a:solidFill>
              </a:defRPr>
            </a:pPr>
            <a:r>
              <a:t>• Validasi: Bemis-Murcko Scaffold Split</a:t>
            </a:r>
          </a:p>
          <a:p>
            <a:pPr>
              <a:spcAft>
                <a:spcPts val="500"/>
              </a:spcAft>
              <a:defRPr sz="1050">
                <a:solidFill>
                  <a:srgbClr val="FFFFFF"/>
                </a:solidFill>
              </a:defRPr>
            </a:pPr>
            <a:r>
              <a:t>• Metrik Model: R² = 0.7297 | RMSE = 0.6317</a:t>
            </a:r>
          </a:p>
          <a:p>
            <a:pPr>
              <a:spcAft>
                <a:spcPts val="500"/>
              </a:spcAft>
              <a:defRPr sz="1050">
                <a:solidFill>
                  <a:srgbClr val="FFFFFF"/>
                </a:solidFill>
              </a:defRPr>
            </a:pPr>
            <a:r>
              <a:t>• Panduan Ambang Bioaktivitas:</a:t>
            </a:r>
            <a:br/>
            <a:r>
              <a:t>  🟢 Aktif (&gt; 6.0)</a:t>
            </a:r>
            <a:br/>
            <a:r>
              <a:t>  🟡 Intermediate (5.0–6.0)</a:t>
            </a:r>
            <a:br/>
            <a:r>
              <a:t>  🔴 Tidak Aktif (≤ 5.0)</a:t>
            </a:r>
          </a:p>
          <a:p>
            <a:pPr>
              <a:spcAft>
                <a:spcPts val="500"/>
              </a:spcAft>
              <a:defRPr sz="1050">
                <a:solidFill>
                  <a:srgbClr val="FFFFFF"/>
                </a:solidFill>
              </a:defRPr>
            </a:pPr>
            <a:r>
              <a:t>• Caching Model Cerdas:</a:t>
            </a:r>
            <a:br/>
            <a:r>
              <a:t>  @st.cache_resource menjamin pemuatan model .pkl instan tanpa reload berulang.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280160"/>
            <a:ext cx="8211312" cy="1600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1280160"/>
            <a:ext cx="8211312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5032" y="1444752"/>
            <a:ext cx="7882128" cy="1316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1E3A8A"/>
                </a:solidFill>
                <a:latin typeface="Calibri"/>
              </a:defRPr>
            </a:pPr>
            <a:r>
              <a:t>Tab 1: 🧬 Single Molecule Prediction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Preset Molekul Kontrol 1-Klik: </a:t>
            </a:r>
            <a:r>
              <a:rPr b="0" sz="1050">
                <a:solidFill>
                  <a:srgbClr val="475569"/>
                </a:solidFill>
                <a:latin typeface="Calibri"/>
              </a:rPr>
              <a:t>Pilihan instan Dapagliflozin, Empagliflozin, Canagliflozin, Metformin, &amp; Aspirin.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Input SMILES Kustom &amp; Validasi RDKit: </a:t>
            </a:r>
            <a:r>
              <a:rPr b="0" sz="1050">
                <a:solidFill>
                  <a:srgbClr val="475569"/>
                </a:solidFill>
                <a:latin typeface="Calibri"/>
              </a:rPr>
              <a:t>Sanitasi otomatis struktur kimia; mendeteksi string SMILES tidak valid.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Visualisasi Struktur 2D &amp; Metrik Afinitas: </a:t>
            </a:r>
            <a:r>
              <a:rPr b="0" sz="1050">
                <a:solidFill>
                  <a:srgbClr val="475569"/>
                </a:solidFill>
                <a:latin typeface="Calibri"/>
              </a:rPr>
              <a:t>Gambar 2D molekul (340x340 px), skor pActivity (pIC50), dan konversi otomatis IC50 (nM / µM / mM).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Evaluasi Lipinski &amp; Ekspor Laporan: </a:t>
            </a:r>
            <a:r>
              <a:rPr b="0" sz="1050">
                <a:solidFill>
                  <a:srgbClr val="475569"/>
                </a:solidFill>
                <a:latin typeface="Calibri"/>
              </a:rPr>
              <a:t>Indikator Rule of Five (✅/❌) serta tombol unduh Laporan PDF Resmi, CSV, &amp; Cetak Langsung.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3017520"/>
            <a:ext cx="8211312" cy="1600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3017520"/>
            <a:ext cx="821131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85032" y="3182112"/>
            <a:ext cx="7882128" cy="1316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D9488"/>
                </a:solidFill>
                <a:latin typeface="Calibri"/>
              </a:defRPr>
            </a:pPr>
            <a:r>
              <a:t>Tab 2: 🗂️ Batch Virtual Screening (CSV)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Unduh Contoh CSV Pengujian: </a:t>
            </a:r>
            <a:r>
              <a:rPr b="0" sz="1050">
                <a:solidFill>
                  <a:srgbClr val="475569"/>
                </a:solidFill>
                <a:latin typeface="Calibri"/>
              </a:rPr>
              <a:t>Tersedia tombol unduh sample_batch_sglt2.csv berisi 5 senyawa referensi untuk uji cepat.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Unggah &amp; Deteksi Kolom Otomatis: </a:t>
            </a:r>
            <a:r>
              <a:rPr b="0" sz="1050">
                <a:solidFill>
                  <a:srgbClr val="475569"/>
                </a:solidFill>
                <a:latin typeface="Calibri"/>
              </a:rPr>
              <a:t>Mendukung berkas CSV dengan nama kolom smiles atau canonical_smiles.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Pemrosesan Massal Paralel: </a:t>
            </a:r>
            <a:r>
              <a:rPr b="0" sz="1050">
                <a:solidFill>
                  <a:srgbClr val="475569"/>
                </a:solidFill>
                <a:latin typeface="Calibri"/>
              </a:rPr>
              <a:t>Dilengkapi progress bar real-time, kalkulasi pActivity, IC50 (nM), dan jumlah pelanggaran Lipinski.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Ekspor Rekapitulasi Batch: </a:t>
            </a:r>
            <a:r>
              <a:rPr b="0" sz="1050">
                <a:solidFill>
                  <a:srgbClr val="475569"/>
                </a:solidFill>
                <a:latin typeface="Calibri"/>
              </a:rPr>
              <a:t>Unduh Rekapitulasi PDF Batch Screening (Statistik + Top 20 Kandidat) dan tabel lengkap (.csv).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4754879"/>
            <a:ext cx="8211312" cy="1600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20440" y="4754879"/>
            <a:ext cx="821131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85032" y="4919471"/>
            <a:ext cx="7882128" cy="1316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7C3AED"/>
                </a:solidFill>
                <a:latin typeface="Calibri"/>
              </a:defRPr>
            </a:pPr>
            <a:r>
              <a:t>Tab 3: 📖 Metodologi &amp; Petunjuk Sains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Transparansi Rumus Kimia Medisinal: </a:t>
            </a:r>
            <a:r>
              <a:rPr b="0" sz="1050">
                <a:solidFill>
                  <a:srgbClr val="475569"/>
                </a:solidFill>
                <a:latin typeface="Calibri"/>
              </a:rPr>
              <a:t>Penjelasan matematis hubungan logaritmik pActivity (pIC50) dan konsentrasi molar IC50 (nM).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Kriteria Lipinski's Rule of Five: </a:t>
            </a:r>
            <a:r>
              <a:rPr b="0" sz="1050">
                <a:solidFill>
                  <a:srgbClr val="475569"/>
                </a:solidFill>
                <a:latin typeface="Calibri"/>
              </a:rPr>
              <a:t>Rincian 4 syarat kelayakan bioavailabilitas obat oral (MW, LogP, HBD, HBA).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Dokumentasi Arsitektur AI: </a:t>
            </a:r>
            <a:r>
              <a:rPr b="0" sz="1050">
                <a:solidFill>
                  <a:srgbClr val="475569"/>
                </a:solidFill>
                <a:latin typeface="Calibri"/>
              </a:rPr>
              <a:t>Penjelasan penggabungan 2.048-bit ECFP4 + 4 deskriptor terstandarisasi dan uji generalisasi Scaffold Split.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7. Fitur Unggulan 1: Single Molecule Prediction &amp; Lipinski's Rule of Five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Detail alur inferensi senyawa tunggal, konversi satuan farmakologi otomatis, dan evaluasi kelayakan obat oral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92608"/>
            <a:ext cx="777240" cy="41148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8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SGLT2 Inhibitor Virtual Screening &amp; Drug Discovery Platform  |  Hanna Christina Ginting (2506713353) — Riset AI Prof. Arry (Universitas Indonesia)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486400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48640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481328"/>
            <a:ext cx="5157216" cy="46268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50" b="1">
                <a:solidFill>
                  <a:srgbClr val="1E3A8A"/>
                </a:solidFill>
                <a:latin typeface="Calibri"/>
              </a:defRPr>
            </a:pPr>
            <a:r>
              <a:t>⚡ Alur Inferensi Instan &amp; Preset Molekul Acuan</a:t>
            </a:r>
          </a:p>
          <a:p>
            <a:pPr>
              <a:spcAft>
                <a:spcPts val="400"/>
              </a:spcAft>
            </a:pPr>
            <a:r>
              <a:rPr b="1" sz="1120">
                <a:solidFill>
                  <a:srgbClr val="0F172A"/>
                </a:solidFill>
                <a:latin typeface="Calibri"/>
              </a:rPr>
              <a:t>• 5 Preset Senyawa Referensi Terintegrasi: </a:t>
            </a:r>
            <a:r>
              <a:rPr b="0" sz="1120">
                <a:solidFill>
                  <a:srgbClr val="475569"/>
                </a:solidFill>
                <a:latin typeface="Calibri"/>
              </a:rPr>
              <a:t>Memudahkan pengguna/reviewer menguji akurasi aplikasi dalam 1 klik tanpa mengetik SMILES manual:
   1. Dapagliflozin (SGLT2 Inhibitor Komersial)
   2. Empagliflozin (SGLT2 Inhibitor Komersial)
   3. Canagliflozin (SGLT2 Inhibitor Komersial)
   4. Metformin (Antidiabetik Golongan Biguanid)
   5. Aspirin (Kontrol Negatif / NSAID)</a:t>
            </a:r>
          </a:p>
          <a:p>
            <a:pPr>
              <a:spcAft>
                <a:spcPts val="400"/>
              </a:spcAft>
            </a:pPr>
            <a:r>
              <a:rPr b="1" sz="1120">
                <a:solidFill>
                  <a:srgbClr val="0F172A"/>
                </a:solidFill>
                <a:latin typeface="Calibri"/>
              </a:rPr>
              <a:t>• Transformasi Satuan IC50 Otomatis: </a:t>
            </a:r>
            <a:r>
              <a:rPr b="0" sz="1120">
                <a:solidFill>
                  <a:srgbClr val="475569"/>
                </a:solidFill>
                <a:latin typeface="Calibri"/>
              </a:rPr>
              <a:t>Menghitung IC50_nM = 10^(-pActivity) × 10^9 dan memformat tampilan secara adaptif ke satuan nM (&lt;1.000 nM), µM (&lt;10^6 nM), atau mM agar intuitif bagi farmasis.</a:t>
            </a:r>
          </a:p>
          <a:p>
            <a:pPr>
              <a:spcAft>
                <a:spcPts val="400"/>
              </a:spcAft>
            </a:pPr>
            <a:r>
              <a:rPr b="1" sz="1120">
                <a:solidFill>
                  <a:srgbClr val="0F172A"/>
                </a:solidFill>
                <a:latin typeface="Calibri"/>
              </a:rPr>
              <a:t>• Persistensi State (st.session_state): </a:t>
            </a:r>
            <a:r>
              <a:rPr b="0" sz="1120">
                <a:solidFill>
                  <a:srgbClr val="475569"/>
                </a:solidFill>
                <a:latin typeface="Calibri"/>
              </a:rPr>
              <a:t>Hasil prediksi disimpan di memori sesi sehingga tampilan tidak ter-reset saat pengguna menekan tombol unduh PDF/CSV atau membuka pratinjau cetak.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280160"/>
            <a:ext cx="5559552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280160"/>
            <a:ext cx="555955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8988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D9488"/>
                </a:solidFill>
              </a:defRPr>
            </a:pPr>
            <a:r>
              <a:t>🧪 Evaluasi Otomatis Lipinski's Rule of Five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Menilai apakah kandidat inhibitor SGLT2 memenuhi syarat sifat fisikokimia untuk diserap dengan baik melalui pemberian oral (Contoh: Profil Dapagliflozin):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355080" y="2194560"/>
          <a:ext cx="5193792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188720"/>
                <a:gridCol w="1143000"/>
                <a:gridCol w="1170432"/>
              </a:tblGrid>
              <a:tr h="475488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 Fisikokimia</a:t>
                      </a:r>
                    </a:p>
                  </a:txBody>
                  <a:tcPr anchor="ctr"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Batas Lipinski</a:t>
                      </a:r>
                    </a:p>
                  </a:txBody>
                  <a:tcPr anchor="ctr"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Dapagliflozin</a:t>
                      </a:r>
                    </a:p>
                  </a:txBody>
                  <a:tcPr anchor="ctr"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 Validasi</a:t>
                      </a:r>
                    </a:p>
                  </a:txBody>
                  <a:tcPr anchor="ctr">
                    <a:solidFill>
                      <a:srgbClr val="0D948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Molecular Weight (MW)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≤ 500 Da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408.88 Da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✅ Lolos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LogP (Lipofilisitas)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≤ 5.0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2.14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✅ Lolos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H-Bond Donors (HBD)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≤ 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✅ Lolos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H-Bond Acceptors (HBA)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≤ 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✅ Lolos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355080" y="4754880"/>
            <a:ext cx="5193792" cy="137160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84632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A34A"/>
                </a:solidFill>
              </a:defRPr>
            </a:pPr>
            <a:r>
              <a:t>✅ Output Analisis Komprehensif Dapagliflozin di Aplikasi: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Prediksi pActivity: 7.84  |  Estimasi IC50: 14.33 nM</a:t>
            </a:r>
            <a:br/>
            <a:r>
              <a:t>• Status Bioaktivitas: POTENSIAL AKTIF (Kandidat Kuat Inhibitor SGLT2)</a:t>
            </a:r>
            <a:br/>
            <a:r>
              <a:t>• Kepatuhan Lipinski: 4/4 Parameter Lolos (0 Pelanggaran — Ideal sebagai obat oral)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8. Fitur Unggulan Terbaru: Generator Laporan PDF Resmi &amp; Cetak Dokumen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Modul pelaporan laboratorium otomatis (pdf_report.py berbasis fpdf2) untuk dokumentasi riset dan publikasi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92608"/>
            <a:ext cx="777240" cy="41148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9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SGLT2 Inhibitor Virtual Screening &amp; Drug Discovery Platform  |  Hanna Christina Ginting (2506713353) — Riset AI Prof. Arry (Universitas Indonesia)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3611880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361188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481328"/>
            <a:ext cx="3282696" cy="4672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  <a:latin typeface="Calibri"/>
              </a:defRPr>
            </a:pPr>
            <a:r>
              <a:t>📑 1. Laporan PDF Senyawa Tunggal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• Format Dokumen Resmi A4: </a:t>
            </a:r>
            <a:r>
              <a:rPr b="0" sz="1100">
                <a:solidFill>
                  <a:srgbClr val="475569"/>
                </a:solidFill>
                <a:latin typeface="Calibri"/>
              </a:rPr>
              <a:t>Dihasilkan secara dinamis oleh fungsi generate_single_pdf_report() menggunakan pustaka fpdf2 murni.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• Visualisasi Struktur 2D Resolusi Tinggi: </a:t>
            </a:r>
            <a:r>
              <a:rPr b="0" sz="1100">
                <a:solidFill>
                  <a:srgbClr val="475569"/>
                </a:solidFill>
                <a:latin typeface="Calibri"/>
              </a:rPr>
              <a:t>Menyematkan gambar 2D molekul (450x450 px) beserta Rumus Kimia (Molecular Formula) &amp; Berat Molekul.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• Ringkasan Eksekutif Bioaktivitas: </a:t>
            </a:r>
            <a:r>
              <a:rPr b="0" sz="1100">
                <a:solidFill>
                  <a:srgbClr val="475569"/>
                </a:solidFill>
                <a:latin typeface="Calibri"/>
              </a:rPr>
              <a:t>Menampilkan pActivity, IC50 (nM/µM), dan badge status berwarna sesuai klasifikasi potensi.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• Tabel Evaluasi Lipinski &amp; Metodologi: </a:t>
            </a:r>
            <a:r>
              <a:rPr b="0" sz="1100">
                <a:solidFill>
                  <a:srgbClr val="475569"/>
                </a:solidFill>
                <a:latin typeface="Calibri"/>
              </a:rPr>
              <a:t>Tabel lengkap 4 parameter Rule of Five, deskripsi arsitektur Random Forest, dan Scientific Disclaimer.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280160"/>
            <a:ext cx="3611880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61188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1481328"/>
            <a:ext cx="3282696" cy="4672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D9488"/>
                </a:solidFill>
                <a:latin typeface="Calibri"/>
              </a:defRPr>
            </a:pPr>
            <a:r>
              <a:t>🗂️ 2. Rekapitulasi PDF Batch Screening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• Statistik Penapisan Massal: </a:t>
            </a:r>
            <a:r>
              <a:rPr b="0" sz="1100">
                <a:solidFill>
                  <a:srgbClr val="475569"/>
                </a:solidFill>
                <a:latin typeface="Calibri"/>
              </a:rPr>
              <a:t>Fungsi generate_batch_pdf_report() merangkum total senyawa diuji, jumlah &amp; persentase senyawa Aktif, Intermediate, dan Tidak Aktif.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• Tabel 20 Kandidat Inhibitor Teratas: </a:t>
            </a:r>
            <a:r>
              <a:rPr b="0" sz="1100">
                <a:solidFill>
                  <a:srgbClr val="475569"/>
                </a:solidFill>
                <a:latin typeface="Calibri"/>
              </a:rPr>
              <a:t>Mengurutkan senyawa secara otomatis dari nilai pActivity tertinggi lengkap dengan SMILES, IC50 (nM), MW, LogP, dan jumlah pelanggaran Lipinski.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• Ekspor Data Tabular (.csv): </a:t>
            </a:r>
            <a:r>
              <a:rPr b="0" sz="1100">
                <a:solidFill>
                  <a:srgbClr val="475569"/>
                </a:solidFill>
                <a:latin typeface="Calibri"/>
              </a:rPr>
              <a:t>Tersedia tombol pendamping untuk mengunduh seluruh baris hasil batch screening dalam format CSV.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280160"/>
            <a:ext cx="3611880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280160"/>
            <a:ext cx="36118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481328"/>
            <a:ext cx="3282696" cy="4672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D97706"/>
                </a:solidFill>
                <a:latin typeface="Calibri"/>
              </a:defRPr>
            </a:pPr>
            <a:r>
              <a:t>🖨️ 3. Pratinjau &amp; Cetak 1-Klik (Print)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• Template HTML Ramah-Cetak: </a:t>
            </a:r>
            <a:r>
              <a:rPr b="0" sz="1100">
                <a:solidFill>
                  <a:srgbClr val="475569"/>
                </a:solidFill>
                <a:latin typeface="Calibri"/>
              </a:rPr>
              <a:t>Fungsi get_printable_html() menyusun halaman pratinjau berformat A4 dengan aturan CSS @media print.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• Integrasi Struktur Base64: </a:t>
            </a:r>
            <a:r>
              <a:rPr b="0" sz="1100">
                <a:solidFill>
                  <a:srgbClr val="475569"/>
                </a:solidFill>
                <a:latin typeface="Calibri"/>
              </a:rPr>
              <a:t>Gambar struktur molekul 2D dikodekan langsung ke Base64 PNG sehingga tampil tajam di semua browser.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• Dialog Cetak Langsung (window.print): </a:t>
            </a:r>
            <a:r>
              <a:rPr b="0" sz="1100">
                <a:solidFill>
                  <a:srgbClr val="475569"/>
                </a:solidFill>
                <a:latin typeface="Calibri"/>
              </a:rPr>
              <a:t>Tombol interaktif membuka dialog printer bawaan sistem operasi untuk mencetak ke kertas atau Save as PDF.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9. Arsitektur Cloud-Ready, Ketahanan Runtime &amp; Deployment Multi-Platform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Rekayasa perangkat lunak untuk menjamin stabilitas aplikasi di Streamlit Cloud, Hugging Face Spaces, dan GitHub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92608"/>
            <a:ext cx="777240" cy="41148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10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SGLT2 Inhibitor Virtual Screening &amp; Drug Discovery Platform  |  Hanna Christina Ginting (2506713353) — Riset AI Prof. Arry (Universitas Indonesia)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486400" cy="2468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48640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481328"/>
            <a:ext cx="5157216" cy="21122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1E3A8A"/>
                </a:solidFill>
                <a:latin typeface="Calibri"/>
              </a:defRPr>
            </a:pPr>
            <a:r>
              <a:t>☁️ 1. Website Live: https://sglt2-drug-discovery.streamlit.app/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Akses Publik Instan (Streamlit Cloud): </a:t>
            </a:r>
            <a:r>
              <a:rPr b="0" sz="1050">
                <a:solidFill>
                  <a:srgbClr val="475569"/>
                </a:solidFill>
                <a:latin typeface="Calibri"/>
              </a:rPr>
              <a:t>Aplikasi telah online dan dapat diakses langsung melalui https://sglt2-drug-discovery.streamlit.app/ tanpa instalasi lokal.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Self-Contained Bundling (./joblib &amp; ./fpdf): </a:t>
            </a:r>
            <a:r>
              <a:rPr b="0" sz="1050">
                <a:solidFill>
                  <a:srgbClr val="475569"/>
                </a:solidFill>
                <a:latin typeface="Calibri"/>
              </a:rPr>
              <a:t>Membundel pustaka pure-Python joblib &amp; fpdf2 di repositori untuk melewati pembatasan PEP 668 Debian Linux.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Dynamic Path Discovery &amp; packages.txt: </a:t>
            </a:r>
            <a:r>
              <a:rPr b="0" sz="1050">
                <a:solidFill>
                  <a:srgbClr val="475569"/>
                </a:solidFill>
                <a:latin typeface="Calibri"/>
              </a:rPr>
              <a:t>Pemindaian otomatis site-packages Linux serta dukungan libxrender1 &amp; libxext6 untuk RDKit.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486400" cy="2468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4864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481328"/>
            <a:ext cx="5157216" cy="21122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D9488"/>
                </a:solidFill>
                <a:latin typeface="Calibri"/>
              </a:defRPr>
            </a:pPr>
            <a:r>
              <a:t>🤗 2. Bundel Mandiri Hugging Face Spaces (hf_space/)</a:t>
            </a:r>
          </a:p>
          <a:p>
            <a:pPr>
              <a:spcAft>
                <a:spcPts val="400"/>
              </a:spcAft>
            </a:pPr>
            <a:r>
              <a:rPr b="1" sz="1080">
                <a:solidFill>
                  <a:srgbClr val="0F172A"/>
                </a:solidFill>
                <a:latin typeface="Calibri"/>
              </a:rPr>
              <a:t>• Direktori Siap-Deploy Lengkap: </a:t>
            </a:r>
            <a:r>
              <a:rPr b="0" sz="1080">
                <a:solidFill>
                  <a:srgbClr val="475569"/>
                </a:solidFill>
                <a:latin typeface="Calibri"/>
              </a:rPr>
              <a:t>Folder hf_space/ memuat app.py, pdf_report.py, models/, joblib/, fpdf/, requirements.txt, packages.txt, dan YAML frontmatter README.</a:t>
            </a:r>
          </a:p>
          <a:p>
            <a:pPr>
              <a:spcAft>
                <a:spcPts val="400"/>
              </a:spcAft>
            </a:pPr>
            <a:r>
              <a:rPr b="1" sz="1080">
                <a:solidFill>
                  <a:srgbClr val="0F172A"/>
                </a:solidFill>
                <a:latin typeface="Calibri"/>
              </a:rPr>
              <a:t>• Otomatisasi Deployment 1-Perintah: </a:t>
            </a:r>
            <a:r>
              <a:rPr b="0" sz="1080">
                <a:solidFill>
                  <a:srgbClr val="475569"/>
                </a:solidFill>
                <a:latin typeface="Calibri"/>
              </a:rPr>
              <a:t>Skrip deploy_to_hf.py berbasis huggingface_hub membuat repository Space dan mengunggah seluruh file (termasuk Git LFS model .pkl) secara otomatis.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5486400" cy="2423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54864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4133087"/>
            <a:ext cx="5157216" cy="20665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7C3AED"/>
                </a:solidFill>
                <a:latin typeface="Calibri"/>
              </a:defRPr>
            </a:pPr>
            <a:r>
              <a:t>🐙 3. Publikasi GitHub &amp; Dukungan GitHub Codespaces</a:t>
            </a:r>
          </a:p>
          <a:p>
            <a:pPr>
              <a:spcAft>
                <a:spcPts val="400"/>
              </a:spcAft>
            </a:pPr>
            <a:r>
              <a:rPr b="1" sz="1080">
                <a:solidFill>
                  <a:srgbClr val="0F172A"/>
                </a:solidFill>
                <a:latin typeface="Calibri"/>
              </a:rPr>
              <a:t>• Repositori Publik Terdokumentasi: </a:t>
            </a:r>
            <a:r>
              <a:rPr b="0" sz="1080">
                <a:solidFill>
                  <a:srgbClr val="475569"/>
                </a:solidFill>
                <a:latin typeface="Calibri"/>
              </a:rPr>
              <a:t>Tersedia di github.com/hannachristina51-gif/SGLT2_Drug_Discovery lengkap dengan README.md, LogBook.md, dan TODO.md.</a:t>
            </a:r>
          </a:p>
          <a:p>
            <a:pPr>
              <a:spcAft>
                <a:spcPts val="400"/>
              </a:spcAft>
            </a:pPr>
            <a:r>
              <a:rPr b="1" sz="1080">
                <a:solidFill>
                  <a:srgbClr val="0F172A"/>
                </a:solidFill>
                <a:latin typeface="Calibri"/>
              </a:rPr>
              <a:t>• Cloud Development (.devcontainer): </a:t>
            </a:r>
            <a:r>
              <a:rPr b="0" sz="1080">
                <a:solidFill>
                  <a:srgbClr val="475569"/>
                </a:solidFill>
                <a:latin typeface="Calibri"/>
              </a:rPr>
              <a:t>Dilengkapi konfigurasi devcontainer.json untuk menjalankan lingkungan pengembangan instan di GitHub Codespaces.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931920"/>
            <a:ext cx="5486400" cy="2423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931920"/>
            <a:ext cx="548640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4133087"/>
            <a:ext cx="5157216" cy="20665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6A34A"/>
                </a:solidFill>
                <a:latin typeface="Calibri"/>
              </a:defRPr>
            </a:pPr>
            <a:r>
              <a:t>💻 4. Kemudahan Eksekusi Lokal Lintas Sistem Operasi</a:t>
            </a:r>
          </a:p>
          <a:p>
            <a:pPr>
              <a:spcAft>
                <a:spcPts val="400"/>
              </a:spcAft>
            </a:pPr>
            <a:r>
              <a:rPr b="1" sz="1080">
                <a:solidFill>
                  <a:srgbClr val="0F172A"/>
                </a:solidFill>
                <a:latin typeface="Calibri"/>
              </a:rPr>
              <a:t>• Launcher Cepat Windows (run_windows.bat): </a:t>
            </a:r>
            <a:r>
              <a:rPr b="0" sz="1080">
                <a:solidFill>
                  <a:srgbClr val="475569"/>
                </a:solidFill>
                <a:latin typeface="Calibri"/>
              </a:rPr>
              <a:t>Skrip eksekusi 1-klik untuk mengaktifkan virtual environment dan membuka aplikasi di http://localhost:8501.</a:t>
            </a:r>
          </a:p>
          <a:p>
            <a:pPr>
              <a:spcAft>
                <a:spcPts val="400"/>
              </a:spcAft>
            </a:pPr>
            <a:r>
              <a:rPr b="1" sz="1080">
                <a:solidFill>
                  <a:srgbClr val="0F172A"/>
                </a:solidFill>
                <a:latin typeface="Calibri"/>
              </a:rPr>
              <a:t>• Dukungan macOS &amp; Linux: </a:t>
            </a:r>
            <a:r>
              <a:rPr b="0" sz="1080">
                <a:solidFill>
                  <a:srgbClr val="475569"/>
                </a:solidFill>
                <a:latin typeface="Calibri"/>
              </a:rPr>
              <a:t>Lingkungan terisolasi venv dengan dependensi terstandarisasi (scikit-learn, rdkit, streamlit, pandas, numpy, fpdf2).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10. Peta Jalan Pengembangan (Roadmap) — Fase 1: Jangka Pendek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Fokus: Peningkatan validitas ilmiah model sesuai pedoman OECD QSAR dan penyempurnaan interaktivitas UI/UX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92608"/>
            <a:ext cx="777240" cy="41148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11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SGLT2 Inhibitor Virtual Screening &amp; Drug Discovery Platform  |  Hanna Christina Ginting (2506713353) — Riset AI Prof. Arry (Universitas Indonesia)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486400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48640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481328"/>
            <a:ext cx="5157216" cy="4672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50" b="1">
                <a:solidFill>
                  <a:srgbClr val="DC2626"/>
                </a:solidFill>
                <a:latin typeface="Calibri"/>
              </a:defRPr>
            </a:pPr>
            <a:r>
              <a:t>🔬 1.1 Evaluasi &amp; Validasi Ilmiah Model (OECD QSAR)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• Applicability Domain (AD) Filter [PRIORITAS TINGGI 🔴]: </a:t>
            </a:r>
            <a:r>
              <a:rPr b="0" sz="1100">
                <a:solidFill>
                  <a:srgbClr val="475569"/>
                </a:solidFill>
                <a:latin typeface="Calibri"/>
              </a:rPr>
              <a:t>Mengimplementasikan perhitungan kemiripan struktural Tanimoto Similarity (k-NN) atau Leverage (Williams Plot) terhadap data latih ChEMBL.
   ➔ Menampilkan peringatan (warning badge) jika molekul uji berada di luar domain kimia model (mencegah positif palsu pada molekul seperti Aspirin/Caffeine).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• Uncertainty Quantification / Prediction Interval [TINGGI 🔴]: </a:t>
            </a:r>
            <a:r>
              <a:rPr b="0" sz="1100">
                <a:solidFill>
                  <a:srgbClr val="475569"/>
                </a:solidFill>
                <a:latin typeface="Calibri"/>
              </a:rPr>
              <a:t>Memanfaatkan varians antar-pohon keputusan (300 trees) pada Random Forest atau Conformal Prediction untuk menyajikan rentang ketidakpastian (contoh: pActivity = 7.84 ± 0.28).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• Model Explainability / SHAP &amp; Bit Attribution [SEDANG 🟡]: </a:t>
            </a:r>
            <a:r>
              <a:rPr b="0" sz="1100">
                <a:solidFill>
                  <a:srgbClr val="475569"/>
                </a:solidFill>
                <a:latin typeface="Calibri"/>
              </a:rPr>
              <a:t>Visualisasi sub-struktur molekul (Morgan fingerprint bit highlighting) untuk memetakan atom/gugus fungsi yang berkontribusi positif atau negatif terhadap inhibisi SGLT2.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486400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4864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481328"/>
            <a:ext cx="5157216" cy="4672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50" b="1">
                <a:solidFill>
                  <a:srgbClr val="0284C7"/>
                </a:solidFill>
                <a:latin typeface="Calibri"/>
              </a:defRPr>
            </a:pPr>
            <a:r>
              <a:t>🎨 1.2 Penyempurnaan Antarmuka Pengguna (Web App)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• Molecular Sketcher Canvas (Ketcher / JSME) [TINGGI 🔴]: </a:t>
            </a:r>
            <a:r>
              <a:rPr b="0" sz="1100">
                <a:solidFill>
                  <a:srgbClr val="475569"/>
                </a:solidFill>
                <a:latin typeface="Calibri"/>
              </a:rPr>
              <a:t>Menambahkan kanvas gambar struktur 2D interaktif (streamlit-ketcher) agar peneliti dapat menggambar atau memodifikasi molekul langsung di layar tanpa mengetik string SMILES.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• Visualisasi Konformasi 3D Interaktif [SEDANG 🟡]: </a:t>
            </a:r>
            <a:r>
              <a:rPr b="0" sz="1100">
                <a:solidFill>
                  <a:srgbClr val="475569"/>
                </a:solidFill>
                <a:latin typeface="Calibri"/>
              </a:rPr>
              <a:t>Integrasi py3Dmol / stmol dengan optimasi geometri medan gaya MMFF94/UFF via RDKit untuk inspeksi ruang 3 dimensi.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• Radar / Spider Chart Properti Fisikokimia [SEDANG 🟡]: </a:t>
            </a:r>
            <a:r>
              <a:rPr b="0" sz="1100">
                <a:solidFill>
                  <a:srgbClr val="475569"/>
                </a:solidFill>
                <a:latin typeface="Calibri"/>
              </a:rPr>
              <a:t>Visualisasi poligon profil drug-likeness (MW, LogP, HBD, HBA, TPSA, Rotatable Bonds).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• Ekspor Laporan Komprehensif PDF &amp; Cetak [SELESAI 🟢]: </a:t>
            </a:r>
            <a:r>
              <a:rPr b="0" sz="1100">
                <a:solidFill>
                  <a:srgbClr val="475569"/>
                </a:solidFill>
                <a:latin typeface="Calibri"/>
              </a:rPr>
              <a:t>Telah berhasil diimplementasikan penuh melalui modul pdf_report.py (Laporan PDF A4 Single &amp; Batch + One-Click Browser Print).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11. Peta Jalan Pengembangan — Fase 2: Profil Farmasi &amp; Polifarmakologi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Fokus: Selektivitas SGLT2/SGLT1, profil ADMET-Toksisitas, Fitofarmaka Indonesia, dan Multi-Target Antidiabetes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92608"/>
            <a:ext cx="777240" cy="41148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SGLT2 Inhibitor Virtual Screening &amp; Drug Discovery Platform  |  Hanna Christina Ginting (2506713353) — Riset AI Prof. Arry (Universitas Indonesia)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486400" cy="2423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48640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453895"/>
            <a:ext cx="5157216" cy="21122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1E3A8A"/>
                </a:solidFill>
                <a:latin typeface="Calibri"/>
              </a:defRPr>
            </a:pPr>
            <a:r>
              <a:t>⚖️ 2.1 Dual-Target: Selektivitas SGLT2 vs SGLT1 [🔴 Tinggi]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Urgensi Klinis: </a:t>
            </a:r>
            <a:r>
              <a:rPr b="0" sz="1050">
                <a:solidFill>
                  <a:srgbClr val="475569"/>
                </a:solidFill>
                <a:latin typeface="Calibri"/>
              </a:rPr>
              <a:t>Inhibisi SGLT1 (SLC5A1) di saluran cerna memicu malabsorpsi glukosa-galaktosa dan diare osmotik berat.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Selectivity Index: </a:t>
            </a:r>
            <a:r>
              <a:rPr b="0" sz="1050">
                <a:solidFill>
                  <a:srgbClr val="475569"/>
                </a:solidFill>
                <a:latin typeface="Calibri"/>
              </a:rPr>
              <a:t>Melatih model pendamping SGLT1 untuk menghitung rasio selektivitas SGLT2/SGLT1 (inhibitor ideal &gt;1.000x selektif terhadap SGLT2).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486400" cy="2423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4864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453895"/>
            <a:ext cx="5157216" cy="21122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D9488"/>
                </a:solidFill>
                <a:latin typeface="Calibri"/>
              </a:defRPr>
            </a:pPr>
            <a:r>
              <a:t>🛡️ 2.2 Skrining ADMET In-Silico &amp; SA Score [🔴 Tinggi]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Farmakokinetik &amp; Keamanan: </a:t>
            </a:r>
            <a:r>
              <a:rPr b="0" sz="1050">
                <a:solidFill>
                  <a:srgbClr val="475569"/>
                </a:solidFill>
                <a:latin typeface="Calibri"/>
              </a:rPr>
              <a:t>Prediksi absorpsi intestinal (HIA), permeabilitas Caco-2, ikatan protein plasma (PPB), risiko aritmia jantung (hERG), hepatotoksisitas, &amp; uji mutagenisitas Ames.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Synthetic Accessibility (SA Score): </a:t>
            </a:r>
            <a:r>
              <a:rPr b="0" sz="1050">
                <a:solidFill>
                  <a:srgbClr val="475569"/>
                </a:solidFill>
                <a:latin typeface="Calibri"/>
              </a:rPr>
              <a:t>Skor 1–10 untuk menilai kemudahan sintesis molekul di laboratorium basah.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86200"/>
            <a:ext cx="5486400" cy="2468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886200"/>
            <a:ext cx="548640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4059935"/>
            <a:ext cx="5157216" cy="2157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16A34A"/>
                </a:solidFill>
                <a:latin typeface="Calibri"/>
              </a:defRPr>
            </a:pPr>
            <a:r>
              <a:t>🌿 2.3 Database Bahan Alam / Herbal Indonesia [🟡 Sedang]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Eksplorasi Fitofarmaka Lokal: </a:t>
            </a:r>
            <a:r>
              <a:rPr b="0" sz="1050">
                <a:solidFill>
                  <a:srgbClr val="475569"/>
                </a:solidFill>
                <a:latin typeface="Calibri"/>
              </a:rPr>
              <a:t>Pustaka bawaan metabolit sekunder tanaman antidiabetes Indonesia (daun salam, pare, temulawak, kayu manis, mahkota dewa) dari COCONUT / KNApSAcK / HerbalDB.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Inspirasi Phlorizin: </a:t>
            </a:r>
            <a:r>
              <a:rPr b="0" sz="1050">
                <a:solidFill>
                  <a:srgbClr val="475569"/>
                </a:solidFill>
                <a:latin typeface="Calibri"/>
              </a:rPr>
              <a:t>Mendukung penemuan kandidat glikosida alami baru seperti sejarah penemuan Phlorizin dari kulit pohon apel.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86200"/>
            <a:ext cx="5486400" cy="2468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886200"/>
            <a:ext cx="54864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4059935"/>
            <a:ext cx="5157216" cy="2157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D97706"/>
                </a:solidFill>
                <a:latin typeface="Calibri"/>
              </a:defRPr>
            </a:pPr>
            <a:r>
              <a:t>💊 2.4 Profiling Lintas Golongan Antidiabetes (MTDL) [🔴 Tinggi]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Pustaka Standar 6 Golongan Antidiabetes: </a:t>
            </a:r>
            <a:r>
              <a:rPr b="0" sz="1050">
                <a:solidFill>
                  <a:srgbClr val="475569"/>
                </a:solidFill>
                <a:latin typeface="Calibri"/>
              </a:rPr>
              <a:t>Biguanid (Metformin), Sulfonilurea (Glimepirid), AGI (Akarbosa), DPP-4 Inhibitor (Sitagliptin), TZD (Pioglitazone), &amp; GLP-1 RA.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Multi-Target QSAR &amp; Tanimoto Similarity: </a:t>
            </a:r>
            <a:r>
              <a:rPr b="0" sz="1050">
                <a:solidFill>
                  <a:srgbClr val="475569"/>
                </a:solidFill>
                <a:latin typeface="Calibri"/>
              </a:rPr>
              <a:t>Prediksi polifarmakologi terhadap DPP-4 (CHEMBL284), Alpha-Glucosidase (CHEMBL340), &amp; PPAR-γ (CHEMBL235) beserta Spider Plot komparatif.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12. Peta Jalan Pengembangan — Fase 3: Deep Learning, Docking &amp; Produksi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Fokus: Arsitektur Graph Neural Networks (GNN), integrasi struktur 3D SGLT2, dan layanan API skala institusi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92608"/>
            <a:ext cx="777240" cy="41148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13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SGLT2 Inhibitor Virtual Screening &amp; Drug Discovery Platform  |  Hanna Christina Ginting (2506713353) — Riset AI Prof. Arry (Universitas Indonesia)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3611880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361188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481328"/>
            <a:ext cx="3282696" cy="4672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7C3AED"/>
                </a:solidFill>
                <a:latin typeface="Calibri"/>
              </a:defRPr>
            </a:pPr>
            <a:r>
              <a:t>🧬 3.1 Graph Neural Networks (GNN) &amp; ChemBERTa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• Representasi Graf Molekuler Langsung: </a:t>
            </a:r>
            <a:r>
              <a:rPr b="0" sz="1100">
                <a:solidFill>
                  <a:srgbClr val="475569"/>
                </a:solidFill>
                <a:latin typeface="Calibri"/>
              </a:rPr>
              <a:t>Menguji arsitektur Directed Message Passing Neural Network (Chemprop), GCN, dan GAT yang belajar langsung dari topologi atom (node) dan ikatan kimia (edge).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• Transformer Kimia (ChemBERTa): </a:t>
            </a:r>
            <a:r>
              <a:rPr b="0" sz="1100">
                <a:solidFill>
                  <a:srgbClr val="475569"/>
                </a:solidFill>
                <a:latin typeface="Calibri"/>
              </a:rPr>
              <a:t>Memanfaatkan model bahasa kimia pre-trained pada jutaan string SMILES.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• Benchmark Komprehensif: </a:t>
            </a:r>
            <a:r>
              <a:rPr b="0" sz="1100">
                <a:solidFill>
                  <a:srgbClr val="475569"/>
                </a:solidFill>
                <a:latin typeface="Calibri"/>
              </a:rPr>
              <a:t>Membandingkan akurasi, kalibrasi ketidakpastian, dan generalisasi scaffold terhadap baseline Random Forest.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280160"/>
            <a:ext cx="3611880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61188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1481328"/>
            <a:ext cx="3282696" cy="4672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DC2626"/>
                </a:solidFill>
                <a:latin typeface="Calibri"/>
              </a:defRPr>
            </a:pPr>
            <a:r>
              <a:t>🧲 3.2 Integrasi Automated Molecular Docking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• Struktur Cryo-EM SGLT2 Manusia: </a:t>
            </a:r>
            <a:r>
              <a:rPr b="0" sz="1100">
                <a:solidFill>
                  <a:srgbClr val="475569"/>
                </a:solidFill>
                <a:latin typeface="Calibri"/>
              </a:rPr>
              <a:t>Menghubungkan pipeline dengan struktur kompleks protein SGLT2 beresolusi tinggi (PDB ID: 7VSI atau 7BOV).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• Simulasi AutoDock Vina / GNINA: </a:t>
            </a:r>
            <a:r>
              <a:rPr b="0" sz="1100">
                <a:solidFill>
                  <a:srgbClr val="475569"/>
                </a:solidFill>
                <a:latin typeface="Calibri"/>
              </a:rPr>
              <a:t>Menjalankan penambatan molekul otomatis untuk 5 kandidat teratas hasil skrining ML guna menghitung energi bebas ikatan (ΔG kkal/mol).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• Pemetaan Interaksi Residu Kunci: </a:t>
            </a:r>
            <a:r>
              <a:rPr b="0" sz="1100">
                <a:solidFill>
                  <a:srgbClr val="475569"/>
                </a:solidFill>
                <a:latin typeface="Calibri"/>
              </a:rPr>
              <a:t>Menganalisis ikatan hidrogen &amp; hidrofobik pada kantong aktif SGLT2 (Phe98, Glu99, Val157, Trp291).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280160"/>
            <a:ext cx="3611880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280160"/>
            <a:ext cx="361188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481328"/>
            <a:ext cx="3282696" cy="4672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1E3A8A"/>
                </a:solidFill>
                <a:latin typeface="Calibri"/>
              </a:defRPr>
            </a:pPr>
            <a:r>
              <a:t>⚙️ 3.3 Orkestrasi Produksi (Docker, FastAPI &amp; CI/CD)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• Cloud Hosting (Streamlit &amp; HF Spaces) [SELESAI 🟢]: </a:t>
            </a:r>
            <a:r>
              <a:rPr b="0" sz="1100">
                <a:solidFill>
                  <a:srgbClr val="475569"/>
                </a:solidFill>
                <a:latin typeface="Calibri"/>
              </a:rPr>
              <a:t>Telah selesai dikonfigurasi dan berjalan stabil di cloud publik.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• REST API Headless (FastAPI Engine): </a:t>
            </a:r>
            <a:r>
              <a:rPr b="0" sz="1100">
                <a:solidFill>
                  <a:srgbClr val="475569"/>
                </a:solidFill>
                <a:latin typeface="Calibri"/>
              </a:rPr>
              <a:t>Memisahkan mesin inferensi ke layanan mikro RESTful agar dapat diakses oleh skrip eksternal, workflow KNIME, atau kluster kampus.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• Containerization &amp; Automated Testing: </a:t>
            </a:r>
            <a:r>
              <a:rPr b="0" sz="1100">
                <a:solidFill>
                  <a:srgbClr val="475569"/>
                </a:solidFill>
                <a:latin typeface="Calibri"/>
              </a:rPr>
              <a:t>Penyediaan Dockerfile, docker-compose.yml, serta unit testing pytest untuk CI/CD pipeline.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🏁 Kesimpulan &amp; Ringkasan Capaian Aplikasi (Baseline v1.0)</a:t>
            </a:r>
          </a:p>
          <a:p>
            <a:pPr>
              <a:defRPr sz="1400">
                <a:solidFill>
                  <a:srgbClr val="2DD4BF"/>
                </a:solidFill>
              </a:defRPr>
            </a:pPr>
            <a:r>
              <a:t>Platform End-to-End Penemuan Obat Inhibitor SGLT2 Berbasis Machine Learning &amp; Web Interaktif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508760"/>
            <a:ext cx="5212080" cy="1600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FFFFFF"/>
                </a:solidFill>
              </a:defRPr>
            </a:pPr>
            <a:r>
              <a:t>1. Pipeline Data &amp; Fitur Kuat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Kurasi 1.760 senyawa aktif SGLT2 dari ChEMBL (CHEMBL1808) dengan ekstraksi fitur hibrida 2.048-bit Morgan Fingerprints (ECFP4) dan 4 deskriptor fisikokimia Lipinski terstandarisasi.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08760"/>
            <a:ext cx="5212080" cy="1600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FFFFFF"/>
                </a:solidFill>
              </a:defRPr>
            </a:pPr>
            <a:r>
              <a:t>2. Model ML Tervalidasi Ilmiah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Random Forest Regressor mencapai performa R² = 0.7297 &amp; RMSE = 0.6317, dilengkapi validasi Bemis-Murcko Scaffold Split dan terbukti akurat mengenali Dapagliflozin (pActivity 7.84).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291839"/>
            <a:ext cx="5212080" cy="1600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FFFFFF"/>
                </a:solidFill>
              </a:defRPr>
            </a:pPr>
            <a:r>
              <a:t>3. Aplikasi Web &amp; Pelaporan PDF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Aplikasi Streamlit interaktif dengan prediksi senyawa tunggal, preset obat kontrol, skrining massal CSV, evaluasi Rule of Five, serta ekspor Laporan PDF Resmi A4 &amp; Cetak 1-Klik.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291839"/>
            <a:ext cx="5212080" cy="1600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FFFFFF"/>
                </a:solidFill>
              </a:defRPr>
            </a:pPr>
            <a:r>
              <a:t>4. Siap Cloud &amp; Ekspansi Riset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Telah siap di-deploy ke Streamlit Community Cloud &amp; Hugging Face Spaces, dengan peta jalan terstruktur menuju ADMET, multi-target antidiabetes, GNN, dan Molecular Docking.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166360"/>
            <a:ext cx="10652760" cy="1188720"/>
          </a:xfrm>
          <a:prstGeom prst="roundRect">
            <a:avLst/>
          </a:prstGeom>
          <a:solidFill>
            <a:srgbClr val="1E3A8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Terima Kasih 🙏  |  Sesi Diskusi &amp; Tanya Jawab</a:t>
            </a:r>
          </a:p>
          <a:p>
            <a:pPr algn="ctr">
              <a:defRPr sz="1200">
                <a:solidFill>
                  <a:srgbClr val="BAE6FD"/>
                </a:solidFill>
              </a:defRPr>
            </a:pPr>
            <a:r>
              <a:t>🌐 Website Aplikasi: https://sglt2-drug-discovery.streamlit.app/  •  Hanna Christina Ginting (2506713353)  •  Prof. Arry (UI)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