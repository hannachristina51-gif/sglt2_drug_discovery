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78"/>
    <p:restoredTop sz="94692"/>
  </p:normalViewPr>
  <p:slideViewPr>
    <p:cSldViewPr snapToGrid="0" snapToObjects="1">
      <p:cViewPr varScale="1">
        <p:scale>
          <a:sx n="88" d="100"/>
          <a:sy n="88" d="100"/>
        </p:scale>
        <p:origin x="184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SGLT2 Inhibitor Drug Discovery 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Pendekatan Machine Learning untuk Penemuan Obat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Pendahuluan &amp; Pengumpulan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Studi: Sodium-glucose cotransporter 2 (SGLT2)</a:t>
            </a:r>
          </a:p>
          <a:p>
            <a:r>
              <a:t>Sumber Data: ChEMBL Database</a:t>
            </a:r>
          </a:p>
          <a:p>
            <a:r>
              <a:t>Pemrosesan Data:</a:t>
            </a:r>
          </a:p>
          <a:p>
            <a:pPr lvl="1"/>
            <a:r>
              <a:t>Total 4.114 data mentah awal berhasil diekstraksi.</a:t>
            </a:r>
          </a:p>
          <a:p>
            <a:pPr lvl="1"/>
            <a:r>
              <a:t>Melalui proses pembersihan dan penyaringan, diperoleh 1.760 senyawa aktif (bersih) yang siap untuk dianalisis lebih lanjut.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Analisis eksploratif dilakukan untuk memahami karakteristik senyawa:</a:t>
            </a:r>
          </a:p>
          <a:p>
            <a:pPr lvl="1"/>
            <a:r>
              <a:t>Distribusi Kelas Bioaktivitas: Memahami rasio senyawa aktif, tidak aktif, dan menengah.</a:t>
            </a:r>
          </a:p>
          <a:p>
            <a:pPr lvl="1"/>
            <a:r>
              <a:t>Ruang Kimia (Chemical Space): Analisis Molecular Weight (MW) terhadap LogP (Lipofilisitas) untuk melihat kepatuhan terhadap aturan Lipinski (Rule of Five).</a:t>
            </a:r>
          </a:p>
          <a:p>
            <a:pPr lvl="1"/>
            <a:r>
              <a:t>Boxplot pActivity: Distribusi nilai bioaktivitas (pIC50) antar kelas senyawa.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Ekstraksi Fitur (Feature 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Data senyawa mentah tidak dapat langsung diproses oleh model, sehingga dilakukan ekstraksi fitur terhadap 1.755 data kurasi:</a:t>
            </a:r>
          </a:p>
          <a:p>
            <a:pPr lvl="1"/>
            <a:r>
              <a:rPr sz="2400"/>
              <a:t>Lipinski Descriptors: Mengekstrak properti fisikokimia (MW, LogP, NumHDonors, NumHAcceptors).</a:t>
            </a:r>
          </a:p>
          <a:p>
            <a:pPr lvl="1"/>
            <a:r>
              <a:rPr sz="2400"/>
              <a:t>Morgan Fingerprints: Representasi struktur molekul dalam bentuk vektor biner (1024-bit).</a:t>
            </a:r>
          </a:p>
          <a:p>
            <a:pPr lvl="1"/>
            <a:r>
              <a:rPr sz="2400"/>
              <a:t>Hasil Akhir: Total 1.035 kolom fitur yang digabungkan dan siap digunakan untuk pemodelan (disimpan dalam curated_features_and_fingerprints.csv).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Pemodelan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regresi dilatih untuk memprediksi nilai bioaktivitas (pActivity).</a:t>
            </a:r>
          </a:p>
          <a:p>
            <a:r>
              <a:t>Algoritma Utama: Random Forest Regressor</a:t>
            </a:r>
          </a:p>
          <a:p>
            <a:r>
              <a:t>Evaluasi Kinerja Model:</a:t>
            </a:r>
          </a:p>
          <a:p>
            <a:pPr lvl="1"/>
            <a:r>
              <a:t>RMSE (Root Mean Square Error): 0.6317 (tingkat kesalahan rata-rata prediksi cukup rendah).</a:t>
            </a:r>
          </a:p>
          <a:p>
            <a:pPr lvl="1"/>
            <a:r>
              <a:t>R-squared (R^2): 0.7297 (model mampu menjelaskan sekitar 73% varians dari data).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💊 Virtual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Model yang telah dilatih digunakan untuk menyaring 5 senyawa kandidat/uji:</a:t>
            </a:r>
          </a:p>
          <a:p>
            <a:r>
              <a:rPr sz="2400"/>
              <a:t>Dapagliflozin (SGLT2 Inhibitor komersial): Prediksi pActivity 7.84 (Tertinggi &amp; Paling Potensial)</a:t>
            </a:r>
          </a:p>
          <a:p>
            <a:r>
              <a:rPr sz="2400"/>
              <a:t>Kandidat Lainnya yang Berpotensi Aktif:</a:t>
            </a:r>
          </a:p>
          <a:p>
            <a:pPr lvl="1"/>
            <a:r>
              <a:rPr sz="2000"/>
              <a:t>Caffeine (Stimulan): Prediksi pActivity 6.84</a:t>
            </a:r>
          </a:p>
          <a:p>
            <a:pPr lvl="1"/>
            <a:r>
              <a:rPr sz="2000"/>
              <a:t>Aspirin (Analgesik): Prediksi pActivity 6.67</a:t>
            </a:r>
          </a:p>
          <a:p>
            <a:pPr lvl="1"/>
            <a:r>
              <a:rPr sz="2000"/>
              <a:t>Metformin (Antidiabetik): Prediksi pActivity 6.42</a:t>
            </a:r>
          </a:p>
          <a:p>
            <a:pPr lvl="1"/>
            <a:r>
              <a:rPr sz="2000"/>
              <a:t>Ibuprofen (NSAID): Prediksi pActivity 6.27</a:t>
            </a:r>
          </a:p>
          <a:p>
            <a:r>
              <a:rPr sz="2400"/>
              <a:t>Membuktikan bahwa model mampu membedakan tingkat aktivitas senyawa dan mengenali obat SGLT2 asli dengan skor tertinggi.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Rencana Optimasi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/>
              <a:t>Untuk meningkatkan akurasi dan keandalan prediksi, berikut langkah optimasi yang akan dilakukan:</a:t>
            </a:r>
          </a:p>
          <a:p>
            <a:r>
              <a:rPr sz="2000"/>
              <a:t>Hyperparameter Tuning: Menggunakan GridSearchCV atau RandomizedSearchCV untuk menemukan parameter Random Forest yang paling optimal.</a:t>
            </a:r>
          </a:p>
          <a:p>
            <a:r>
              <a:rPr sz="2000"/>
              <a:t>Eksplorasi Algoritma Lain: Membandingkan kinerja dengan algoritma canggih seperti XGBoost, LightGBM, atau Deep Learning.</a:t>
            </a:r>
          </a:p>
          <a:p>
            <a:r>
              <a:rPr sz="2000"/>
              <a:t>Penambahan Deskriptor Lanjutan: Menggabungkan deskriptor struktural 3D dan farmakofor untuk informasi pengikatan reseptor yang lebih akurat.</a:t>
            </a:r>
          </a:p>
          <a:p>
            <a:r>
              <a:rPr sz="2000"/>
              <a:t>Validasi Struktural (Scaffold Split): Menerapkan pemisahan data train-test berdasarkan kemiripan kerangka utama (scaffold) untuk mencegah overfitting.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🏁 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Pipeline Machine Learning dari hulu ke hilir berhasil dibangun untuk prediksi inhibitor SGLT2.</a:t>
            </a:r>
          </a:p>
          <a:p>
            <a:r>
              <a:rPr sz="2800"/>
              <a:t>Penggunaan Random Forest dengan kombinasi Fingerprint dan Lipinski Descriptors menunjukkan performa yang sangat baik (R^2 = 0.73).</a:t>
            </a:r>
          </a:p>
          <a:p>
            <a:r>
              <a:rPr sz="2800"/>
              <a:t>Model siap dikembangkan lebih lanjut untuk Virtual Screening berskala besar pada database molekul (seperti ZINC atau PubChem).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Terima Kasih 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 pertanyaan?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506</Words>
  <Application>Microsoft Macintosh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SGLT2 Inhibitor Drug Discovery 🧬</vt:lpstr>
      <vt:lpstr>🔍 Pendahuluan &amp; Pengumpulan Data</vt:lpstr>
      <vt:lpstr>📊 Exploratory Data Analysis (EDA)</vt:lpstr>
      <vt:lpstr>🧪 Ekstraksi Fitur (Feature Engineering)</vt:lpstr>
      <vt:lpstr>🤖 Pemodelan Machine Learning</vt:lpstr>
      <vt:lpstr>💊 Virtual Screening</vt:lpstr>
      <vt:lpstr>⚙️ Rencana Optimasi Model</vt:lpstr>
      <vt:lpstr>🏁 Kesimpulan</vt:lpstr>
      <vt:lpstr>Terima Kasih 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Hanna Christina Ginting</cp:lastModifiedBy>
  <cp:revision>4</cp:revision>
  <dcterms:created xsi:type="dcterms:W3CDTF">2013-01-27T09:14:16Z</dcterms:created>
  <dcterms:modified xsi:type="dcterms:W3CDTF">2026-10-02T08:00:39Z</dcterms:modified>
  <cp:category/>
</cp:coreProperties>
</file>